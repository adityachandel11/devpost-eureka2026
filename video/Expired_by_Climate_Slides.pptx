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4"/>
  </p:notesMasterIdLst>
  <p:sldIdLst>
    <p:sldId id="256" r:id="rId3"/>
    <p:sldId id="257" r:id="rId5"/>
    <p:sldId id="258" r:id="rId6"/>
    <p:sldId id="259" r:id="rId7"/>
    <p:sldId id="260" r:id="rId8"/>
    <p:sldId id="261" r:id="rId9"/>
    <p:sldId id="262" r:id="rId10"/>
    <p:sldId id="263" r:id="rId11"/>
    <p:sldId id="264" r:id="rId12"/>
    <p:sldId id="265" r:id="rId13"/>
  </p:sld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Problem" id="{a5316cb2-4037-7e26-57d3-a9c1eb477668}">
          <p14:sldIdLst>
            <p14:sldId id="256"/>
            <p14:sldId id="257"/>
          </p14:sldIdLst>
        </p14:section>
        <p14:section name="What is known" id="{7b81c00b-0fdf-dda2-b444-65df9382d0f0}">
          <p14:sldIdLst>
            <p14:sldId id="258"/>
          </p14:sldIdLst>
        </p14:section>
        <p14:section name="Our contribution" id="{e30bacf7-c76c-5660-4ca9-434f6b6b5b89}">
          <p14:sldIdLst>
            <p14:sldId id="259"/>
            <p14:sldId id="260"/>
          </p14:sldIdLst>
        </p14:section>
        <p14:section name="Results" id="{e6d8d00b-344d-7139-af6a-d6c9a6009820}">
          <p14:sldIdLst>
            <p14:sldId id="261"/>
            <p14:sldId id="262"/>
            <p14:sldId id="263"/>
          </p14:sldIdLst>
        </p14:section>
        <p14:section name="Why it matters" id="{c7d4b37a-7b68-d97c-7347-9dc0502cc873}">
          <p14:sldIdLst>
            <p14:sldId id="264"/>
            <p14:sldId id="265"/>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 Type="http://schemas.openxmlformats.org/officeDocument/2006/relationships/theme" Target="theme/theme1.xml"/><Relationship Id="rId16" Type="http://schemas.openxmlformats.org/officeDocument/2006/relationships/tableStyles" Target="tableStyles.xml"/><Relationship Id="rId15" Type="http://schemas.openxmlformats.org/officeDocument/2006/relationships/viewProps" Target="viewProps.xml"/><Relationship Id="rId14" Type="http://schemas.openxmlformats.org/officeDocument/2006/relationships/presProps" Target="presProps.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"Store below 30 °C" is printed on medicines across the hot half of the world. It looks like advice. It is really a climate forecast — and it was made decades ago. This project checks whether that forecast still holds.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a medicine is approved, batches sit in a test chamber for a year or more. WHO sets three chamber conditions: 25 °C for temperate markets, and 30 °C with 65% or 75% humidity for hot ones. Each setting was chosen to sit, with a safety margin, above the climate where the medicine will be stored. If the climate warms past it, every shelf life approved there becomes optimistic.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numbers come from 1971, when Haynes defined mean kinetic temperature — one number that captures heat damage. In 1998 Grimm set the 30 °C conditions with a margin over the climate of that time. In 2006 WHO added 75% humidity. The only recent re-check, for Japan in 2024, found no problem. A new global guideline, ICH Q1, is due in November 2026. The gap: we found no multi-decade, multi-country check of today's climate against these conditions.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idea: treat the test condition as a hypothesis about the climate, and test it with the regulators' own method. Climate data become an effective temperature and humidity each year. We subtract them from the test condition. What is left is the safety margin. Below zero, the climate has crossed the line, and shelf life shrinks. The formula is from 1971. What is new is repeating the audit every year, below country level, for heat and humidity.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analysed 18 places: 10 from ERA5 reanalysis and 8 from NOAA weather stations. We compared 1981–2000 with 2006–2025, and wrote our hypotheses and pass/fail rules before downloading any data. Three built-in checks: Tokyo as a positive control, a bias check against hourly station data, and reanalysis versus stations. Our daily method read 0.3 °C high, so every level you see is corrected.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Result one: every one of the 18 places warmed, by 0.35 to 1.33 °C. Every 95% interval is above zero. Seven places now average above the test temperature their medicines are approved at. Tokyo, our control, stays safely inside Japan's 25 °C condition — exactly as the 2024 Japanese study found.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Result two: inside the United States, which tests at 25 °C, two cities crossed the line. Houston rose from 24.68 to 25.41 °C, and from 5 to 16 years above 25 °C out of 20. Tampa crossed too. New Orleans now sits right on the line, above it in 9 of the last 20 years. We chose these as the warmest US cities, so this shows the problem exists, not how common it 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Result three: on humid coasts, water vapour breaks the chamber first. Chennai, Colombo and Yangon already hold more water vapour than the 30 °C, 65% chamber. Colombo exceeds 70% too. None yet reaches 75% — the reason WHO created that condition, now measured with current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it matters: each extra degree speeds a typical degradation reaction by about 11%. So a 24-month label behaves like about 23 months in Houston, 20 in Dubai and 15 in Phoenix. This is outdoor climate, not measured product temperature — many buildings are cooled. But degraded antibiotics can under-dose patients and drive resistance.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changes: regulators can re-check test conditions every year with our open tool and data. Places already over the line can be targeted for stability checks, and humid coasts get evidence for stricter humidity. A standard is a forecast. Forecasts need checking.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title">
    <p:bg>
      <p:bgPr>
        <a:solidFill>
          <a:srgbClr val="1D2633"/>
        </a:solidFill>
        <a:effectLst/>
      </p:bgPr>
    </p:bg>
    <p:spTree>
      <p:nvGrpSpPr>
        <p:cNvPr id="1" name=""/>
        <p:cNvGrpSpPr/>
        <p:nvPr/>
      </p:nvGrpSpPr>
      <p:grpSpPr>
        <a:xfrm>
          <a:off x="0" y="0"/>
          <a:ext cx="0" cy="0"/>
          <a:chOff x="0" y="0"/>
          <a:chExt cx="0" cy="0"/>
        </a:xfrm>
      </p:grpSpPr>
      <p:sp>
        <p:nvSpPr>
          <p:cNvPr id="2" name="Text 0"/>
          <p:cNvSpPr/>
          <p:nvPr>
            <p:ph type="title" idx="100" hasCustomPrompt="1"/>
          </p:nvPr>
        </p:nvSpPr>
        <p:spPr>
          <a:xfrm>
            <a:off x="548640" y="1234440"/>
            <a:ext cx="5120640" cy="1188720"/>
          </a:xfrm>
          <a:prstGeom prst="rect">
            <a:avLst/>
          </a:prstGeom>
          <a:noFill/>
        </p:spPr>
        <p:txBody>
          <a:bodyPr wrap="square" rtlCol="0"/>
          <a:lstStyle>
            <a:lvl1pPr marL="0" indent="0" algn="l">
              <a:buNone/>
              <a:defRPr lang="en-US" sz="4400" b="1" dirty="0">
                <a:solidFill>
                  <a:schemeClr val="bg1"/>
                </a:solidFill>
                <a:latin typeface="Cambria" panose="02040503050406030204" pitchFamily="34" charset="0"/>
                <a:ea typeface="Cambria" panose="02040503050406030204" pitchFamily="34" charset="-122"/>
                <a:cs typeface="Cambria" panose="02040503050406030204" pitchFamily="34" charset="-120"/>
              </a:defRPr>
            </a:lvl1pPr>
          </a:lstStyle>
          <a:p>
            <a:pPr marL="0" indent="0" algn="l">
              <a:buNone/>
            </a:pPr>
            <a:endParaRPr lang="en-US" sz="4400" dirty="0"/>
          </a:p>
        </p:txBody>
      </p:sp>
      <p:sp>
        <p:nvSpPr>
          <p:cNvPr id="3" name="Text 0"/>
          <p:cNvSpPr/>
          <p:nvPr>
            <p:ph type="body" idx="101" hasCustomPrompt="1"/>
          </p:nvPr>
        </p:nvSpPr>
        <p:spPr>
          <a:xfrm>
            <a:off x="548640" y="2560320"/>
            <a:ext cx="4937760" cy="1097280"/>
          </a:xfrm>
          <a:prstGeom prst="rect">
            <a:avLst/>
          </a:prstGeom>
          <a:noFill/>
        </p:spPr>
        <p:txBody>
          <a:bodyPr wrap="square" rtlCol="0"/>
          <a:lstStyle>
            <a:lvl1pPr marL="0" indent="0" algn="l">
              <a:buNone/>
              <a:defRPr lang="en-US" sz="1800" dirty="0">
                <a:solidFill>
                  <a:srgbClr val="D5DAE0"/>
                </a:solidFill>
              </a:defRPr>
            </a:lvl1pPr>
          </a:lstStyle>
          <a:p>
            <a:pPr marL="0" indent="0" algn="l">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a:effectLst/>
      </p:bgPr>
    </p:bg>
    <p:spTree>
      <p:nvGrpSpPr>
        <p:cNvPr id="1" name=""/>
        <p:cNvGrpSpPr/>
        <p:nvPr/>
      </p:nvGrpSpPr>
      <p:grpSpPr>
        <a:xfrm>
          <a:off x="0" y="0"/>
          <a:ext cx="0" cy="0"/>
          <a:chOff x="0" y="0"/>
          <a:chExt cx="0" cy="0"/>
        </a:xfrm>
      </p:grpSpPr>
      <p:sp>
        <p:nvSpPr>
          <p:cNvPr id="2" name="Text 0"/>
          <p:cNvSpPr/>
          <p:nvPr>
            <p:ph type="title" idx="100" hasCustomPrompt="1"/>
          </p:nvPr>
        </p:nvSpPr>
        <p:spPr>
          <a:xfrm>
            <a:off x="457200" y="274320"/>
            <a:ext cx="8229600" cy="731520"/>
          </a:xfrm>
          <a:prstGeom prst="rect">
            <a:avLst/>
          </a:prstGeom>
          <a:noFill/>
        </p:spPr>
        <p:txBody>
          <a:bodyPr wrap="square" rtlCol="0"/>
          <a:lstStyle>
            <a:lvl1pPr marL="0" indent="0" algn="l">
              <a:buNone/>
              <a:defRPr lang="en-US" sz="2800" b="1" dirty="0">
                <a:solidFill>
                  <a:schemeClr val="tx1"/>
                </a:solidFill>
                <a:latin typeface="Cambria" panose="02040503050406030204" pitchFamily="34" charset="0"/>
                <a:ea typeface="Cambria" panose="02040503050406030204" pitchFamily="34" charset="-122"/>
                <a:cs typeface="Cambria" panose="02040503050406030204" pitchFamily="34" charset="-120"/>
              </a:defRPr>
            </a:lvl1pPr>
          </a:lstStyle>
          <a:p>
            <a:pPr marL="0" indent="0" algn="l">
              <a:buNone/>
            </a:pPr>
            <a:endParaRPr lang="en-US" sz="2800" dirty="0"/>
          </a:p>
        </p:txBody>
      </p:sp>
      <p:sp>
        <p:nvSpPr>
          <p:cNvPr id="3" name="Text 0"/>
          <p:cNvSpPr/>
          <p:nvPr/>
        </p:nvSpPr>
        <p:spPr>
          <a:xfrm>
            <a:off x="457200" y="4754880"/>
            <a:ext cx="4572000" cy="228600"/>
          </a:xfrm>
          <a:prstGeom prst="rect">
            <a:avLst/>
          </a:prstGeom>
          <a:noFill/>
        </p:spPr>
        <p:txBody>
          <a:bodyPr wrap="square" lIns="0" tIns="0" rIns="0" bIns="0" rtlCol="0" anchor="ctr"/>
          <a:lstStyle/>
          <a:p>
            <a:pPr marL="0" indent="0">
              <a:buNone/>
            </a:pPr>
            <a:r>
              <a:rPr lang="en-US" sz="900" dirty="0">
                <a:solidFill>
                  <a:srgbClr val="5B6672"/>
                </a:solidFill>
              </a:rPr>
              <a:t>Expired by Climate · EurekaDev 2026</a:t>
            </a:r>
            <a:endParaRPr lang="en-US" sz="900" dirty="0"/>
          </a:p>
        </p:txBody>
      </p:sp>
      <p:sp>
        <p:nvSpPr>
          <p:cNvPr id="25" name="Slide Number Placeholder 0"/>
          <p:cNvSpPr>
            <a:spLocks noGrp="1"/>
          </p:cNvSpPr>
          <p:nvPr>
            <p:ph type="sldNum" sz="quarter" idx="4294967295"/>
          </p:nvPr>
        </p:nvSpPr>
        <p:spPr>
          <a:xfrm>
            <a:off x="8321040" y="4754880"/>
            <a:ext cx="365760" cy="228600"/>
          </a:xfrm>
          <a:prstGeom prst="rect">
            <a:avLst/>
          </a:prstGeom>
        </p:spPr>
        <p:txBody>
          <a:bodyPr/>
          <a:lstStyle>
            <a:lvl1pPr>
              <a:defRPr sz="900">
                <a:solidFill>
                  <a:srgbClr val="5B6672"/>
                </a:solidFill>
              </a:defRPr>
            </a:lvl1pPr>
          </a:lstStyle>
          <a:p>
            <a:pPr algn="r"/>
            <a:fld id="{F7021451-1387-4CA6-816F-3879F97B5CBC}" type="slidenum">
              <a:rPr lang="en-US" b="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ark close">
    <p:bg>
      <p:bgPr>
        <a:solidFill>
          <a:srgbClr val="1D2633"/>
        </a:solidFill>
        <a:effectLst/>
      </p:bgPr>
    </p:bg>
    <p:spTree>
      <p:nvGrpSpPr>
        <p:cNvPr id="1" name=""/>
        <p:cNvGrpSpPr/>
        <p:nvPr/>
      </p:nvGrpSpPr>
      <p:grpSpPr>
        <a:xfrm>
          <a:off x="0" y="0"/>
          <a:ext cx="0" cy="0"/>
          <a:chOff x="0" y="0"/>
          <a:chExt cx="0" cy="0"/>
        </a:xfrm>
      </p:grpSpPr>
      <p:sp>
        <p:nvSpPr>
          <p:cNvPr id="2" name="Text 0"/>
          <p:cNvSpPr/>
          <p:nvPr>
            <p:ph type="title" idx="100" hasCustomPrompt="1"/>
          </p:nvPr>
        </p:nvSpPr>
        <p:spPr>
          <a:xfrm>
            <a:off x="548640" y="365760"/>
            <a:ext cx="8046720" cy="731520"/>
          </a:xfrm>
          <a:prstGeom prst="rect">
            <a:avLst/>
          </a:prstGeom>
          <a:noFill/>
        </p:spPr>
        <p:txBody>
          <a:bodyPr wrap="square" rtlCol="0"/>
          <a:lstStyle>
            <a:lvl1pPr marL="0" indent="0" algn="l">
              <a:buNone/>
              <a:defRPr lang="en-US" sz="3000" b="1" dirty="0">
                <a:solidFill>
                  <a:schemeClr val="bg1"/>
                </a:solidFill>
                <a:latin typeface="Cambria" panose="02040503050406030204" pitchFamily="34" charset="0"/>
                <a:ea typeface="Cambria" panose="02040503050406030204" pitchFamily="34" charset="-122"/>
                <a:cs typeface="Cambria" panose="02040503050406030204" pitchFamily="34" charset="-120"/>
              </a:defRPr>
            </a:lvl1pPr>
          </a:lstStyle>
          <a:p>
            <a:pPr marL="0" indent="0" algn="l">
              <a:buNone/>
            </a:pPr>
            <a:endParaRPr lang="en-US" sz="3000" dirty="0"/>
          </a:p>
        </p:txBody>
      </p:sp>
    </p:spTree>
  </p:cSld>
  <p:clrMapOvr>
    <a:masterClrMapping/>
  </p:clrMapOvr>
</p:sldLayout>
</file>

<file path=ppt/slideMasters/_rels/slideMaster1.xml.rels><?xml version="1.0" encoding="UTF-8" standalone="yes"?>
<Relationships xmlns="http://schemas.openxmlformats.org/package/2006/relationships"><Relationship Id="rId5" Type="http://schemas.openxmlformats.org/officeDocument/2006/relationships/theme" Target="../theme/theme1.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321040" y="4754880"/>
            <a:ext cx="365760" cy="228600"/>
          </a:xfrm>
          <a:prstGeom prst="rect">
            <a:avLst/>
          </a:prstGeom>
        </p:spPr>
        <p:txBody>
          <a:bodyPr/>
          <a:lstStyle>
            <a:lvl1pPr>
              <a:defRPr sz="900">
                <a:solidFill>
                  <a:srgbClr val="5B6672"/>
                </a:solidFill>
              </a:defRPr>
            </a:lvl1pPr>
          </a:lstStyle>
          <a:p>
            <a:pPr algn="r"/>
            <a:fld id="{F7021451-1387-4CA6-816F-3879F97B5CBC}" type="slidenum">
              <a:rPr lang="en-US" b="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3.xml"/><Relationship Id="rId1" Type="http://schemas.openxmlformats.org/officeDocument/2006/relationships/image" Target="../media/image1.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3.xml"/><Relationship Id="rId1" Type="http://schemas.openxmlformats.org/officeDocument/2006/relationships/image" Target="../media/image2.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3.xml"/><Relationship Id="rId1" Type="http://schemas.openxmlformats.org/officeDocument/2006/relationships/image" Target="../media/image3.pn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3.xml"/><Relationship Id="rId1" Type="http://schemas.openxmlformats.org/officeDocument/2006/relationships/image" Target="../media/image4.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ph type="title" idx="100" hasCustomPrompt="1"/>
          </p:nvPr>
        </p:nvSpPr>
        <p:spPr>
          <a:xfrm>
            <a:off x="548640" y="1234440"/>
            <a:ext cx="5120640" cy="1188720"/>
          </a:xfrm>
          <a:prstGeom prst="rect">
            <a:avLst/>
          </a:prstGeom>
          <a:noFill/>
        </p:spPr>
        <p:txBody>
          <a:bodyPr wrap="square" lIns="0" tIns="0" rIns="0" bIns="0" rtlCol="0" anchor="b"/>
          <a:lstStyle/>
          <a:p>
            <a:pPr marL="0" indent="0" algn="l">
              <a:buNone/>
            </a:pPr>
            <a:r>
              <a:rPr lang="en-US" sz="4400" b="1" dirty="0">
                <a:solidFill>
                  <a:schemeClr val="bg1"/>
                </a:solidFill>
                <a:latin typeface="Cambria" panose="02040503050406030204" pitchFamily="34" charset="0"/>
                <a:ea typeface="Cambria" panose="02040503050406030204" pitchFamily="34" charset="-122"/>
                <a:cs typeface="Cambria" panose="02040503050406030204" pitchFamily="34" charset="-120"/>
              </a:rPr>
              <a:t>Expired by Climate</a:t>
            </a:r>
            <a:endParaRPr lang="en-US" sz="4400" dirty="0"/>
          </a:p>
        </p:txBody>
      </p:sp>
      <p:sp>
        <p:nvSpPr>
          <p:cNvPr id="3" name="Text 0"/>
          <p:cNvSpPr/>
          <p:nvPr>
            <p:ph type="body" idx="101" hasCustomPrompt="1"/>
          </p:nvPr>
        </p:nvSpPr>
        <p:spPr>
          <a:xfrm>
            <a:off x="548640" y="2560320"/>
            <a:ext cx="4937760" cy="1097280"/>
          </a:xfrm>
          <a:prstGeom prst="rect">
            <a:avLst/>
          </a:prstGeom>
          <a:noFill/>
        </p:spPr>
        <p:txBody>
          <a:bodyPr wrap="square" lIns="0" tIns="0" rIns="0" bIns="0" rtlCol="0" anchor="t"/>
          <a:lstStyle/>
          <a:p>
            <a:pPr marL="0" indent="0" algn="l">
              <a:buNone/>
            </a:pPr>
            <a:r>
              <a:rPr lang="en-US" sz="1800" dirty="0">
                <a:solidFill>
                  <a:srgbClr val="D5DAE0"/>
                </a:solidFill>
              </a:rPr>
              <a:t>Do medicine stability test conditions still cover the climates they were built for?</a:t>
            </a:r>
            <a:endParaRPr lang="en-US" sz="1800" dirty="0"/>
          </a:p>
        </p:txBody>
      </p:sp>
      <p:sp>
        <p:nvSpPr>
          <p:cNvPr id="4" name="Text 2"/>
          <p:cNvSpPr txBox="1"/>
          <p:nvPr/>
        </p:nvSpPr>
        <p:spPr>
          <a:xfrm>
            <a:off x="548640" y="4343400"/>
            <a:ext cx="5120640" cy="274320"/>
          </a:xfrm>
          <a:prstGeom prst="rect">
            <a:avLst/>
          </a:prstGeom>
          <a:noFill/>
        </p:spPr>
        <p:txBody>
          <a:bodyPr wrap="square" lIns="0" tIns="0" rIns="0" bIns="0" rtlCol="0" anchor="ctr"/>
          <a:lstStyle/>
          <a:p>
            <a:pPr marL="0" indent="0">
              <a:buNone/>
            </a:pPr>
            <a:r>
              <a:rPr lang="en-US" sz="1200" dirty="0">
                <a:solidFill>
                  <a:srgbClr val="9AA5B1"/>
                </a:solidFill>
                <a:latin typeface="Calibri" panose="020F0502020204030204" pitchFamily="34" charset="0"/>
                <a:ea typeface="Calibri" panose="020F0502020204030204" pitchFamily="34" charset="-122"/>
                <a:cs typeface="Calibri" panose="020F0502020204030204" pitchFamily="34" charset="-120"/>
              </a:rPr>
              <a:t>EurekaDev 2026 · Research Track ·</a:t>
            </a:r>
            <a:endParaRPr lang="en-US" sz="1200" dirty="0"/>
          </a:p>
        </p:txBody>
      </p:sp>
      <p:sp>
        <p:nvSpPr>
          <p:cNvPr id="5" name="label pill"/>
          <p:cNvSpPr/>
          <p:nvPr/>
        </p:nvSpPr>
        <p:spPr>
          <a:xfrm>
            <a:off x="5989320" y="1965960"/>
            <a:ext cx="2651760" cy="685800"/>
          </a:xfrm>
          <a:prstGeom prst="roundRect">
            <a:avLst>
              <a:gd name="adj" fmla="val 50000"/>
            </a:avLst>
          </a:prstGeom>
          <a:solidFill>
            <a:srgbClr val="FFFFFF"/>
          </a:solidFill>
          <a:ln w="31750">
            <a:solidFill>
              <a:srgbClr val="D9480F"/>
            </a:solidFill>
            <a:prstDash val="solid"/>
          </a:ln>
        </p:spPr>
      </p:sp>
      <p:sp>
        <p:nvSpPr>
          <p:cNvPr id="6" name="Text 4"/>
          <p:cNvSpPr txBox="1"/>
          <p:nvPr/>
        </p:nvSpPr>
        <p:spPr>
          <a:xfrm>
            <a:off x="5989320" y="1965960"/>
            <a:ext cx="2651760" cy="685800"/>
          </a:xfrm>
          <a:prstGeom prst="rect">
            <a:avLst/>
          </a:prstGeom>
          <a:noFill/>
        </p:spPr>
        <p:txBody>
          <a:bodyPr wrap="square" lIns="0" tIns="0" rIns="0" bIns="0" rtlCol="0" anchor="ctr"/>
          <a:lstStyle/>
          <a:p>
            <a:pPr marL="0" indent="0" algn="ctr">
              <a:buNone/>
            </a:pPr>
            <a:r>
              <a:rPr lang="en-US" sz="2000" b="1" dirty="0">
                <a:solidFill>
                  <a:srgbClr val="1D2633"/>
                </a:solidFill>
                <a:latin typeface="Cambria" panose="02040503050406030204" pitchFamily="34" charset="0"/>
                <a:ea typeface="Cambria" panose="02040503050406030204" pitchFamily="34" charset="-122"/>
                <a:cs typeface="Cambria" panose="02040503050406030204" pitchFamily="34" charset="-120"/>
              </a:rPr>
              <a:t>Store below 30 °C</a:t>
            </a:r>
            <a:endParaRPr lang="en-US" sz="2000" dirty="0"/>
          </a:p>
        </p:txBody>
      </p:sp>
      <p:sp>
        <p:nvSpPr>
          <p:cNvPr id="7" name="Text 5"/>
          <p:cNvSpPr txBox="1"/>
          <p:nvPr/>
        </p:nvSpPr>
        <p:spPr>
          <a:xfrm>
            <a:off x="5989320" y="2788920"/>
            <a:ext cx="2651760" cy="548640"/>
          </a:xfrm>
          <a:prstGeom prst="rect">
            <a:avLst/>
          </a:prstGeom>
          <a:noFill/>
        </p:spPr>
        <p:txBody>
          <a:bodyPr wrap="square" lIns="0" tIns="0" rIns="0" bIns="0" rtlCol="0" anchor="ctr"/>
          <a:lstStyle/>
          <a:p>
            <a:pPr marL="0" indent="0" algn="ctr">
              <a:buNone/>
            </a:pPr>
            <a:r>
              <a:rPr lang="en-US" sz="1200" dirty="0">
                <a:solidFill>
                  <a:srgbClr val="9AA5B1"/>
                </a:solidFill>
                <a:latin typeface="Calibri" panose="020F0502020204030204" pitchFamily="34" charset="0"/>
                <a:ea typeface="Calibri" panose="020F0502020204030204" pitchFamily="34" charset="-122"/>
                <a:cs typeface="Calibri" panose="020F0502020204030204" pitchFamily="34" charset="-120"/>
              </a:rPr>
              <a:t>printed on medicines across the hot half of the world</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ph type="title" idx="100" hasCustomPrompt="1"/>
          </p:nvPr>
        </p:nvSpPr>
        <p:spPr>
          <a:xfrm>
            <a:off x="457200" y="274320"/>
            <a:ext cx="8229600" cy="731520"/>
          </a:xfrm>
          <a:prstGeom prst="rect">
            <a:avLst/>
          </a:prstGeom>
          <a:noFill/>
        </p:spPr>
        <p:txBody>
          <a:bodyPr wrap="square" lIns="0" tIns="0" rIns="0" bIns="0" rtlCol="0" anchor="t"/>
          <a:lstStyle/>
          <a:p>
            <a:pPr marL="0" indent="0" algn="l">
              <a:buNone/>
            </a:pPr>
            <a:r>
              <a:rPr lang="en-US" sz="2800" b="1" dirty="0">
                <a:solidFill>
                  <a:schemeClr val="tx1"/>
                </a:solidFill>
                <a:latin typeface="Cambria" panose="02040503050406030204" pitchFamily="34" charset="0"/>
                <a:ea typeface="Cambria" panose="02040503050406030204" pitchFamily="34" charset="-122"/>
                <a:cs typeface="Cambria" panose="02040503050406030204" pitchFamily="34" charset="-120"/>
              </a:rPr>
              <a:t>“Store below 30 °C” is a climate forecast</a:t>
            </a:r>
            <a:endParaRPr lang="en-US" sz="2800" dirty="0"/>
          </a:p>
        </p:txBody>
      </p:sp>
      <p:sp>
        <p:nvSpPr>
          <p:cNvPr id="3" name="Text 1"/>
          <p:cNvSpPr txBox="1"/>
          <p:nvPr/>
        </p:nvSpPr>
        <p:spPr>
          <a:xfrm>
            <a:off x="457200" y="1234440"/>
            <a:ext cx="3749040" cy="2926080"/>
          </a:xfrm>
          <a:prstGeom prst="rect">
            <a:avLst/>
          </a:prstGeom>
          <a:noFill/>
        </p:spPr>
        <p:txBody>
          <a:bodyPr wrap="square" lIns="0" tIns="0" rIns="0" bIns="0" rtlCol="0" anchor="t"/>
          <a:lstStyle/>
          <a:p>
            <a:pPr marL="0" indent="0">
              <a:spcAft>
                <a:spcPts val="1000"/>
              </a:spcAft>
              <a:buNone/>
            </a:pPr>
            <a:r>
              <a:rPr lang="en-US" sz="1600" dirty="0">
                <a:solidFill>
                  <a:srgbClr val="1D2633"/>
                </a:solidFill>
                <a:latin typeface="Calibri" panose="020F0502020204030204" pitchFamily="34" charset="0"/>
                <a:ea typeface="Calibri" panose="020F0502020204030204" pitchFamily="34" charset="-122"/>
                <a:cs typeface="Calibri" panose="020F0502020204030204" pitchFamily="34" charset="-120"/>
              </a:rPr>
              <a:t>Every medicine is approved after a year or more in a test chamber.</a:t>
            </a:r>
            <a:endParaRPr lang="en-US" sz="1600" dirty="0"/>
          </a:p>
          <a:p>
            <a:pPr marL="0" indent="0">
              <a:spcAft>
                <a:spcPts val="1000"/>
              </a:spcAft>
              <a:buNone/>
            </a:pPr>
            <a:r>
              <a:rPr lang="en-US" sz="1600" dirty="0">
                <a:solidFill>
                  <a:srgbClr val="1D2633"/>
                </a:solidFill>
                <a:latin typeface="Calibri" panose="020F0502020204030204" pitchFamily="34" charset="0"/>
                <a:ea typeface="Calibri" panose="020F0502020204030204" pitchFamily="34" charset="-122"/>
                <a:cs typeface="Calibri" panose="020F0502020204030204" pitchFamily="34" charset="-120"/>
              </a:rPr>
              <a:t>The chamber setting was chosen to sit, with a safety margin, above the climate where the medicine will be stored.</a:t>
            </a:r>
            <a:endParaRPr lang="en-US" sz="1600" dirty="0"/>
          </a:p>
          <a:p>
            <a:pPr marL="0" indent="0">
              <a:buNone/>
            </a:pPr>
            <a:r>
              <a:rPr lang="en-US" sz="1600" b="1" dirty="0">
                <a:solidFill>
                  <a:srgbClr val="D9480F"/>
                </a:solidFill>
                <a:latin typeface="Calibri" panose="020F0502020204030204" pitchFamily="34" charset="0"/>
                <a:ea typeface="Calibri" panose="020F0502020204030204" pitchFamily="34" charset="-122"/>
                <a:cs typeface="Calibri" panose="020F0502020204030204" pitchFamily="34" charset="-120"/>
              </a:rPr>
              <a:t>If the climate warms past it, approved shelf lives become optimistic.</a:t>
            </a:r>
            <a:endParaRPr lang="en-US" sz="1600" dirty="0"/>
          </a:p>
        </p:txBody>
      </p:sp>
      <p:sp>
        <p:nvSpPr>
          <p:cNvPr id="4" name="condition 1"/>
          <p:cNvSpPr/>
          <p:nvPr/>
        </p:nvSpPr>
        <p:spPr>
          <a:xfrm>
            <a:off x="4572000" y="1234440"/>
            <a:ext cx="4114800" cy="868680"/>
          </a:xfrm>
          <a:prstGeom prst="roundRect">
            <a:avLst>
              <a:gd name="adj" fmla="val 10526"/>
            </a:avLst>
          </a:prstGeom>
          <a:solidFill>
            <a:srgbClr val="F2F4F6"/>
          </a:solidFill>
          <a:ln w="12700">
            <a:solidFill>
              <a:srgbClr val="F2F4F6"/>
            </a:solidFill>
            <a:prstDash val="solid"/>
          </a:ln>
        </p:spPr>
      </p:sp>
      <p:sp>
        <p:nvSpPr>
          <p:cNvPr id="5" name="Text 3"/>
          <p:cNvSpPr txBox="1"/>
          <p:nvPr/>
        </p:nvSpPr>
        <p:spPr>
          <a:xfrm>
            <a:off x="4754880" y="1344168"/>
            <a:ext cx="1737360" cy="640080"/>
          </a:xfrm>
          <a:prstGeom prst="rect">
            <a:avLst/>
          </a:prstGeom>
          <a:noFill/>
        </p:spPr>
        <p:txBody>
          <a:bodyPr wrap="square" lIns="0" tIns="0" rIns="0" bIns="0" rtlCol="0" anchor="ctr"/>
          <a:lstStyle/>
          <a:p>
            <a:pPr marL="0" indent="0">
              <a:buNone/>
            </a:pPr>
            <a:r>
              <a:rPr lang="en-US" sz="2200" b="1" dirty="0">
                <a:solidFill>
                  <a:srgbClr val="1D2633"/>
                </a:solidFill>
                <a:latin typeface="Cambria" panose="02040503050406030204" pitchFamily="34" charset="0"/>
                <a:ea typeface="Cambria" panose="02040503050406030204" pitchFamily="34" charset="-122"/>
                <a:cs typeface="Cambria" panose="02040503050406030204" pitchFamily="34" charset="-120"/>
              </a:rPr>
              <a:t>25 °C · 60%</a:t>
            </a:r>
            <a:endParaRPr lang="en-US" sz="2200" dirty="0"/>
          </a:p>
        </p:txBody>
      </p:sp>
      <p:sp>
        <p:nvSpPr>
          <p:cNvPr id="6" name="Text 4"/>
          <p:cNvSpPr txBox="1"/>
          <p:nvPr/>
        </p:nvSpPr>
        <p:spPr>
          <a:xfrm>
            <a:off x="6537960" y="1344168"/>
            <a:ext cx="2011680" cy="640080"/>
          </a:xfrm>
          <a:prstGeom prst="rect">
            <a:avLst/>
          </a:prstGeom>
          <a:noFill/>
        </p:spPr>
        <p:txBody>
          <a:bodyPr wrap="square" lIns="0" tIns="0" rIns="0" bIns="0" rtlCol="0" anchor="ctr"/>
          <a:lstStyle/>
          <a:p>
            <a:pPr marL="0" indent="0">
              <a:buNone/>
            </a:pPr>
            <a:r>
              <a:rPr lang="en-US" sz="1250" dirty="0">
                <a:solidFill>
                  <a:srgbClr val="3A4654"/>
                </a:solidFill>
                <a:latin typeface="Calibri" panose="020F0502020204030204" pitchFamily="34" charset="0"/>
                <a:ea typeface="Calibri" panose="020F0502020204030204" pitchFamily="34" charset="-122"/>
                <a:cs typeface="Calibri" panose="020F0502020204030204" pitchFamily="34" charset="-120"/>
              </a:rPr>
              <a:t>Temperate markets and ICH regions (EU, US, Japan)</a:t>
            </a:r>
            <a:endParaRPr lang="en-US" sz="1250" dirty="0"/>
          </a:p>
        </p:txBody>
      </p:sp>
      <p:sp>
        <p:nvSpPr>
          <p:cNvPr id="7" name="condition 2"/>
          <p:cNvSpPr/>
          <p:nvPr/>
        </p:nvSpPr>
        <p:spPr>
          <a:xfrm>
            <a:off x="4572000" y="2258568"/>
            <a:ext cx="4114800" cy="868680"/>
          </a:xfrm>
          <a:prstGeom prst="roundRect">
            <a:avLst>
              <a:gd name="adj" fmla="val 10526"/>
            </a:avLst>
          </a:prstGeom>
          <a:solidFill>
            <a:srgbClr val="F2F4F6"/>
          </a:solidFill>
          <a:ln w="12700">
            <a:solidFill>
              <a:srgbClr val="F2F4F6"/>
            </a:solidFill>
            <a:prstDash val="solid"/>
          </a:ln>
        </p:spPr>
      </p:sp>
      <p:sp>
        <p:nvSpPr>
          <p:cNvPr id="8" name="Text 6"/>
          <p:cNvSpPr txBox="1"/>
          <p:nvPr/>
        </p:nvSpPr>
        <p:spPr>
          <a:xfrm>
            <a:off x="4754880" y="2368296"/>
            <a:ext cx="1737360" cy="640080"/>
          </a:xfrm>
          <a:prstGeom prst="rect">
            <a:avLst/>
          </a:prstGeom>
          <a:noFill/>
        </p:spPr>
        <p:txBody>
          <a:bodyPr wrap="square" lIns="0" tIns="0" rIns="0" bIns="0" rtlCol="0" anchor="ctr"/>
          <a:lstStyle/>
          <a:p>
            <a:pPr marL="0" indent="0">
              <a:buNone/>
            </a:pPr>
            <a:r>
              <a:rPr lang="en-US" sz="2200" b="1" dirty="0">
                <a:solidFill>
                  <a:srgbClr val="1D2633"/>
                </a:solidFill>
                <a:latin typeface="Cambria" panose="02040503050406030204" pitchFamily="34" charset="0"/>
                <a:ea typeface="Cambria" panose="02040503050406030204" pitchFamily="34" charset="-122"/>
                <a:cs typeface="Cambria" panose="02040503050406030204" pitchFamily="34" charset="-120"/>
              </a:rPr>
              <a:t>30 °C · 65%</a:t>
            </a:r>
            <a:endParaRPr lang="en-US" sz="2200" dirty="0"/>
          </a:p>
        </p:txBody>
      </p:sp>
      <p:sp>
        <p:nvSpPr>
          <p:cNvPr id="9" name="Text 7"/>
          <p:cNvSpPr txBox="1"/>
          <p:nvPr/>
        </p:nvSpPr>
        <p:spPr>
          <a:xfrm>
            <a:off x="6537960" y="2368296"/>
            <a:ext cx="2011680" cy="640080"/>
          </a:xfrm>
          <a:prstGeom prst="rect">
            <a:avLst/>
          </a:prstGeom>
          <a:noFill/>
        </p:spPr>
        <p:txBody>
          <a:bodyPr wrap="square" lIns="0" tIns="0" rIns="0" bIns="0" rtlCol="0" anchor="ctr"/>
          <a:lstStyle/>
          <a:p>
            <a:pPr marL="0" indent="0">
              <a:buNone/>
            </a:pPr>
            <a:r>
              <a:rPr lang="en-US" sz="1250" dirty="0">
                <a:solidFill>
                  <a:srgbClr val="3A4654"/>
                </a:solidFill>
                <a:latin typeface="Calibri" panose="020F0502020204030204" pitchFamily="34" charset="0"/>
                <a:ea typeface="Calibri" panose="020F0502020204030204" pitchFamily="34" charset="-122"/>
                <a:cs typeface="Calibri" panose="020F0502020204030204" pitchFamily="34" charset="-120"/>
              </a:rPr>
              <a:t>Hot and humid markets (Zone IVa)</a:t>
            </a:r>
            <a:endParaRPr lang="en-US" sz="1250" dirty="0"/>
          </a:p>
        </p:txBody>
      </p:sp>
      <p:sp>
        <p:nvSpPr>
          <p:cNvPr id="10" name="condition 3"/>
          <p:cNvSpPr/>
          <p:nvPr/>
        </p:nvSpPr>
        <p:spPr>
          <a:xfrm>
            <a:off x="4572000" y="3282696"/>
            <a:ext cx="4114800" cy="868680"/>
          </a:xfrm>
          <a:prstGeom prst="roundRect">
            <a:avLst>
              <a:gd name="adj" fmla="val 10526"/>
            </a:avLst>
          </a:prstGeom>
          <a:solidFill>
            <a:srgbClr val="F2F4F6"/>
          </a:solidFill>
          <a:ln w="12700">
            <a:solidFill>
              <a:srgbClr val="F2F4F6"/>
            </a:solidFill>
            <a:prstDash val="solid"/>
          </a:ln>
        </p:spPr>
      </p:sp>
      <p:sp>
        <p:nvSpPr>
          <p:cNvPr id="11" name="Text 9"/>
          <p:cNvSpPr txBox="1"/>
          <p:nvPr/>
        </p:nvSpPr>
        <p:spPr>
          <a:xfrm>
            <a:off x="4754880" y="3392424"/>
            <a:ext cx="1737360" cy="640080"/>
          </a:xfrm>
          <a:prstGeom prst="rect">
            <a:avLst/>
          </a:prstGeom>
          <a:noFill/>
        </p:spPr>
        <p:txBody>
          <a:bodyPr wrap="square" lIns="0" tIns="0" rIns="0" bIns="0" rtlCol="0" anchor="ctr"/>
          <a:lstStyle/>
          <a:p>
            <a:pPr marL="0" indent="0">
              <a:buNone/>
            </a:pPr>
            <a:r>
              <a:rPr lang="en-US" sz="2200" b="1" dirty="0">
                <a:solidFill>
                  <a:srgbClr val="1D2633"/>
                </a:solidFill>
                <a:latin typeface="Cambria" panose="02040503050406030204" pitchFamily="34" charset="0"/>
                <a:ea typeface="Cambria" panose="02040503050406030204" pitchFamily="34" charset="-122"/>
                <a:cs typeface="Cambria" panose="02040503050406030204" pitchFamily="34" charset="-120"/>
              </a:rPr>
              <a:t>30 °C · 75%</a:t>
            </a:r>
            <a:endParaRPr lang="en-US" sz="2200" dirty="0"/>
          </a:p>
        </p:txBody>
      </p:sp>
      <p:sp>
        <p:nvSpPr>
          <p:cNvPr id="12" name="Text 10"/>
          <p:cNvSpPr txBox="1"/>
          <p:nvPr/>
        </p:nvSpPr>
        <p:spPr>
          <a:xfrm>
            <a:off x="6537960" y="3392424"/>
            <a:ext cx="2011680" cy="640080"/>
          </a:xfrm>
          <a:prstGeom prst="rect">
            <a:avLst/>
          </a:prstGeom>
          <a:noFill/>
        </p:spPr>
        <p:txBody>
          <a:bodyPr wrap="square" lIns="0" tIns="0" rIns="0" bIns="0" rtlCol="0" anchor="ctr"/>
          <a:lstStyle/>
          <a:p>
            <a:pPr marL="0" indent="0">
              <a:buNone/>
            </a:pPr>
            <a:r>
              <a:rPr lang="en-US" sz="1250" dirty="0">
                <a:solidFill>
                  <a:srgbClr val="3A4654"/>
                </a:solidFill>
                <a:latin typeface="Calibri" panose="020F0502020204030204" pitchFamily="34" charset="0"/>
                <a:ea typeface="Calibri" panose="020F0502020204030204" pitchFamily="34" charset="-122"/>
                <a:cs typeface="Calibri" panose="020F0502020204030204" pitchFamily="34" charset="-120"/>
              </a:rPr>
              <a:t>Hot and very humid markets (Zone IVb)</a:t>
            </a:r>
            <a:endParaRPr lang="en-US" sz="1250" dirty="0"/>
          </a:p>
        </p:txBody>
      </p:sp>
      <p:sp>
        <p:nvSpPr>
          <p:cNvPr id="13" name="Text 11"/>
          <p:cNvSpPr txBox="1"/>
          <p:nvPr/>
        </p:nvSpPr>
        <p:spPr>
          <a:xfrm>
            <a:off x="4572000" y="4343400"/>
            <a:ext cx="4114800" cy="228600"/>
          </a:xfrm>
          <a:prstGeom prst="rect">
            <a:avLst/>
          </a:prstGeom>
          <a:noFill/>
        </p:spPr>
        <p:txBody>
          <a:bodyPr wrap="square" lIns="0" tIns="0" rIns="0" bIns="0" rtlCol="0" anchor="ctr"/>
          <a:lstStyle/>
          <a:p>
            <a:pPr marL="0" indent="0">
              <a:buNone/>
            </a:pPr>
            <a:r>
              <a:rPr lang="en-US" sz="1000" dirty="0">
                <a:solidFill>
                  <a:srgbClr val="5B6672"/>
                </a:solidFill>
                <a:latin typeface="Calibri" panose="020F0502020204030204" pitchFamily="34" charset="0"/>
                <a:ea typeface="Calibri" panose="020F0502020204030204" pitchFamily="34" charset="-122"/>
                <a:cs typeface="Calibri" panose="020F0502020204030204" pitchFamily="34" charset="-120"/>
              </a:rPr>
              <a:t>Long-term test conditions: WHO TRS 1010, Annex 10 (2018)</a:t>
            </a:r>
            <a:endParaRPr lang="en-US" sz="1000" dirty="0"/>
          </a:p>
        </p:txBody>
      </p:sp>
      <p:sp>
        <p:nvSpPr>
          <p:cNvPr id="25" name="Slide Number Placeholder 0"/>
          <p:cNvSpPr>
            <a:spLocks noGrp="1"/>
          </p:cNvSpPr>
          <p:nvPr>
            <p:ph type="sldNum" sz="quarter" idx="4294967295"/>
          </p:nvPr>
        </p:nvSpPr>
        <p:spPr>
          <a:xfrm>
            <a:off x="8321040" y="4754880"/>
            <a:ext cx="365760" cy="228600"/>
          </a:xfrm>
          <a:prstGeom prst="rect">
            <a:avLst/>
          </a:prstGeom>
        </p:spPr>
        <p:txBody>
          <a:bodyPr/>
          <a:lstStyle>
            <a:lvl1pPr>
              <a:defRPr sz="900">
                <a:solidFill>
                  <a:srgbClr val="5B6672"/>
                </a:solidFill>
              </a:defRPr>
            </a:lvl1pPr>
          </a:lstStyle>
          <a:p>
            <a:pPr algn="r"/>
            <a:fld id="{F7021451-1387-4CA6-816F-3879F97B5CBC}" type="slidenum">
              <a:rPr lang="en-US" b="0"/>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ph type="title" idx="100" hasCustomPrompt="1"/>
          </p:nvPr>
        </p:nvSpPr>
        <p:spPr>
          <a:xfrm>
            <a:off x="457200" y="274320"/>
            <a:ext cx="8229600" cy="731520"/>
          </a:xfrm>
          <a:prstGeom prst="rect">
            <a:avLst/>
          </a:prstGeom>
          <a:noFill/>
        </p:spPr>
        <p:txBody>
          <a:bodyPr wrap="square" lIns="0" tIns="0" rIns="0" bIns="0" rtlCol="0" anchor="t"/>
          <a:lstStyle/>
          <a:p>
            <a:pPr marL="0" indent="0" algn="l">
              <a:buNone/>
            </a:pPr>
            <a:r>
              <a:rPr lang="en-US" sz="2800" b="1" dirty="0">
                <a:solidFill>
                  <a:schemeClr val="tx1"/>
                </a:solidFill>
                <a:latin typeface="Cambria" panose="02040503050406030204" pitchFamily="34" charset="0"/>
                <a:ea typeface="Cambria" panose="02040503050406030204" pitchFamily="34" charset="-122"/>
                <a:cs typeface="Cambria" panose="02040503050406030204" pitchFamily="34" charset="-120"/>
              </a:rPr>
              <a:t>The numbers were set from yesterday’s climate</a:t>
            </a:r>
            <a:endParaRPr lang="en-US" sz="2800" dirty="0"/>
          </a:p>
        </p:txBody>
      </p:sp>
      <p:sp>
        <p:nvSpPr>
          <p:cNvPr id="3" name="timeline axis"/>
          <p:cNvSpPr/>
          <p:nvPr/>
        </p:nvSpPr>
        <p:spPr>
          <a:xfrm>
            <a:off x="1188720" y="1874520"/>
            <a:ext cx="6766560" cy="0"/>
          </a:xfrm>
          <a:prstGeom prst="line">
            <a:avLst/>
          </a:prstGeom>
          <a:noFill/>
          <a:ln w="25400">
            <a:solidFill>
              <a:srgbClr val="9AA5B1"/>
            </a:solidFill>
            <a:prstDash val="solid"/>
          </a:ln>
        </p:spPr>
      </p:sp>
      <p:sp>
        <p:nvSpPr>
          <p:cNvPr id="4" name="milestone 1971"/>
          <p:cNvSpPr/>
          <p:nvPr/>
        </p:nvSpPr>
        <p:spPr>
          <a:xfrm>
            <a:off x="1033272" y="1719072"/>
            <a:ext cx="310896" cy="310896"/>
          </a:xfrm>
          <a:prstGeom prst="ellipse">
            <a:avLst/>
          </a:prstGeom>
          <a:solidFill>
            <a:srgbClr val="1D2633"/>
          </a:solidFill>
          <a:ln w="25400">
            <a:solidFill>
              <a:srgbClr val="FFFFFF"/>
            </a:solidFill>
            <a:prstDash val="solid"/>
          </a:ln>
        </p:spPr>
      </p:sp>
      <p:sp>
        <p:nvSpPr>
          <p:cNvPr id="5" name="Text 3"/>
          <p:cNvSpPr txBox="1"/>
          <p:nvPr/>
        </p:nvSpPr>
        <p:spPr>
          <a:xfrm>
            <a:off x="457200" y="1188720"/>
            <a:ext cx="1463040" cy="411480"/>
          </a:xfrm>
          <a:prstGeom prst="rect">
            <a:avLst/>
          </a:prstGeom>
          <a:noFill/>
        </p:spPr>
        <p:txBody>
          <a:bodyPr wrap="square" lIns="0" tIns="0" rIns="0" bIns="0" rtlCol="0" anchor="ctr"/>
          <a:lstStyle/>
          <a:p>
            <a:pPr marL="0" indent="0" algn="ctr">
              <a:buNone/>
            </a:pPr>
            <a:r>
              <a:rPr lang="en-US" sz="1800" b="1" dirty="0">
                <a:solidFill>
                  <a:srgbClr val="1D2633"/>
                </a:solidFill>
                <a:latin typeface="Cambria" panose="02040503050406030204" pitchFamily="34" charset="0"/>
                <a:ea typeface="Cambria" panose="02040503050406030204" pitchFamily="34" charset="-122"/>
                <a:cs typeface="Cambria" panose="02040503050406030204" pitchFamily="34" charset="-120"/>
              </a:rPr>
              <a:t>1971</a:t>
            </a:r>
            <a:endParaRPr lang="en-US" sz="1800" dirty="0"/>
          </a:p>
        </p:txBody>
      </p:sp>
      <p:sp>
        <p:nvSpPr>
          <p:cNvPr id="6" name="Text 4"/>
          <p:cNvSpPr txBox="1"/>
          <p:nvPr/>
        </p:nvSpPr>
        <p:spPr>
          <a:xfrm>
            <a:off x="457200" y="2194560"/>
            <a:ext cx="1463040" cy="320040"/>
          </a:xfrm>
          <a:prstGeom prst="rect">
            <a:avLst/>
          </a:prstGeom>
          <a:noFill/>
        </p:spPr>
        <p:txBody>
          <a:bodyPr wrap="square" lIns="0" tIns="0" rIns="0" bIns="0" rtlCol="0" anchor="ctr"/>
          <a:lstStyle/>
          <a:p>
            <a:pPr marL="0" indent="0" algn="ctr">
              <a:buNone/>
            </a:pPr>
            <a:r>
              <a:rPr lang="en-US" sz="1400" b="1" dirty="0">
                <a:solidFill>
                  <a:srgbClr val="1D2633"/>
                </a:solidFill>
                <a:latin typeface="Calibri" panose="020F0502020204030204" pitchFamily="34" charset="0"/>
                <a:ea typeface="Calibri" panose="020F0502020204030204" pitchFamily="34" charset="-122"/>
                <a:cs typeface="Calibri" panose="020F0502020204030204" pitchFamily="34" charset="-120"/>
              </a:rPr>
              <a:t>Haynes</a:t>
            </a:r>
            <a:endParaRPr lang="en-US" sz="1400" dirty="0"/>
          </a:p>
        </p:txBody>
      </p:sp>
      <p:sp>
        <p:nvSpPr>
          <p:cNvPr id="7" name="Text 5"/>
          <p:cNvSpPr txBox="1"/>
          <p:nvPr/>
        </p:nvSpPr>
        <p:spPr>
          <a:xfrm>
            <a:off x="457200" y="2542032"/>
            <a:ext cx="1463040" cy="1188720"/>
          </a:xfrm>
          <a:prstGeom prst="rect">
            <a:avLst/>
          </a:prstGeom>
          <a:noFill/>
        </p:spPr>
        <p:txBody>
          <a:bodyPr wrap="square" lIns="0" tIns="0" rIns="0" bIns="0" rtlCol="0" anchor="t"/>
          <a:lstStyle/>
          <a:p>
            <a:pPr marL="0" indent="0" algn="ctr">
              <a:buNone/>
            </a:pPr>
            <a:r>
              <a:rPr lang="en-US" sz="1200" dirty="0">
                <a:solidFill>
                  <a:srgbClr val="3A4654"/>
                </a:solidFill>
                <a:latin typeface="Calibri" panose="020F0502020204030204" pitchFamily="34" charset="0"/>
                <a:ea typeface="Calibri" panose="020F0502020204030204" pitchFamily="34" charset="-122"/>
                <a:cs typeface="Calibri" panose="020F0502020204030204" pitchFamily="34" charset="-120"/>
              </a:rPr>
              <a:t>Mean kinetic temperature: the one number that captures heat damage</a:t>
            </a:r>
            <a:endParaRPr lang="en-US" sz="1200" dirty="0"/>
          </a:p>
        </p:txBody>
      </p:sp>
      <p:sp>
        <p:nvSpPr>
          <p:cNvPr id="8" name="milestone 1998"/>
          <p:cNvSpPr/>
          <p:nvPr/>
        </p:nvSpPr>
        <p:spPr>
          <a:xfrm>
            <a:off x="2724912" y="1719072"/>
            <a:ext cx="310896" cy="310896"/>
          </a:xfrm>
          <a:prstGeom prst="ellipse">
            <a:avLst/>
          </a:prstGeom>
          <a:solidFill>
            <a:srgbClr val="1D2633"/>
          </a:solidFill>
          <a:ln w="25400">
            <a:solidFill>
              <a:srgbClr val="FFFFFF"/>
            </a:solidFill>
            <a:prstDash val="solid"/>
          </a:ln>
        </p:spPr>
      </p:sp>
      <p:sp>
        <p:nvSpPr>
          <p:cNvPr id="9" name="Text 7"/>
          <p:cNvSpPr txBox="1"/>
          <p:nvPr/>
        </p:nvSpPr>
        <p:spPr>
          <a:xfrm>
            <a:off x="2148840" y="1188720"/>
            <a:ext cx="1463040" cy="411480"/>
          </a:xfrm>
          <a:prstGeom prst="rect">
            <a:avLst/>
          </a:prstGeom>
          <a:noFill/>
        </p:spPr>
        <p:txBody>
          <a:bodyPr wrap="square" lIns="0" tIns="0" rIns="0" bIns="0" rtlCol="0" anchor="ctr"/>
          <a:lstStyle/>
          <a:p>
            <a:pPr marL="0" indent="0" algn="ctr">
              <a:buNone/>
            </a:pPr>
            <a:r>
              <a:rPr lang="en-US" sz="1800" b="1" dirty="0">
                <a:solidFill>
                  <a:srgbClr val="1D2633"/>
                </a:solidFill>
                <a:latin typeface="Cambria" panose="02040503050406030204" pitchFamily="34" charset="0"/>
                <a:ea typeface="Cambria" panose="02040503050406030204" pitchFamily="34" charset="-122"/>
                <a:cs typeface="Cambria" panose="02040503050406030204" pitchFamily="34" charset="-120"/>
              </a:rPr>
              <a:t>1998</a:t>
            </a:r>
            <a:endParaRPr lang="en-US" sz="1800" dirty="0"/>
          </a:p>
        </p:txBody>
      </p:sp>
      <p:sp>
        <p:nvSpPr>
          <p:cNvPr id="10" name="Text 8"/>
          <p:cNvSpPr txBox="1"/>
          <p:nvPr/>
        </p:nvSpPr>
        <p:spPr>
          <a:xfrm>
            <a:off x="2148840" y="2194560"/>
            <a:ext cx="1463040" cy="320040"/>
          </a:xfrm>
          <a:prstGeom prst="rect">
            <a:avLst/>
          </a:prstGeom>
          <a:noFill/>
        </p:spPr>
        <p:txBody>
          <a:bodyPr wrap="square" lIns="0" tIns="0" rIns="0" bIns="0" rtlCol="0" anchor="ctr"/>
          <a:lstStyle/>
          <a:p>
            <a:pPr marL="0" indent="0" algn="ctr">
              <a:buNone/>
            </a:pPr>
            <a:r>
              <a:rPr lang="en-US" sz="1400" b="1" dirty="0">
                <a:solidFill>
                  <a:srgbClr val="1D2633"/>
                </a:solidFill>
                <a:latin typeface="Calibri" panose="020F0502020204030204" pitchFamily="34" charset="0"/>
                <a:ea typeface="Calibri" panose="020F0502020204030204" pitchFamily="34" charset="-122"/>
                <a:cs typeface="Calibri" panose="020F0502020204030204" pitchFamily="34" charset="-120"/>
              </a:rPr>
              <a:t>Grimm</a:t>
            </a:r>
            <a:endParaRPr lang="en-US" sz="1400" dirty="0"/>
          </a:p>
        </p:txBody>
      </p:sp>
      <p:sp>
        <p:nvSpPr>
          <p:cNvPr id="11" name="Text 9"/>
          <p:cNvSpPr txBox="1"/>
          <p:nvPr/>
        </p:nvSpPr>
        <p:spPr>
          <a:xfrm>
            <a:off x="2148840" y="2542032"/>
            <a:ext cx="1463040" cy="1188720"/>
          </a:xfrm>
          <a:prstGeom prst="rect">
            <a:avLst/>
          </a:prstGeom>
          <a:noFill/>
        </p:spPr>
        <p:txBody>
          <a:bodyPr wrap="square" lIns="0" tIns="0" rIns="0" bIns="0" rtlCol="0" anchor="t"/>
          <a:lstStyle/>
          <a:p>
            <a:pPr marL="0" indent="0" algn="ctr">
              <a:buNone/>
            </a:pPr>
            <a:r>
              <a:rPr lang="en-US" sz="1200" dirty="0">
                <a:solidFill>
                  <a:srgbClr val="3A4654"/>
                </a:solidFill>
                <a:latin typeface="Calibri" panose="020F0502020204030204" pitchFamily="34" charset="0"/>
                <a:ea typeface="Calibri" panose="020F0502020204030204" pitchFamily="34" charset="-122"/>
                <a:cs typeface="Calibri" panose="020F0502020204030204" pitchFamily="34" charset="-120"/>
              </a:rPr>
              <a:t>30 °C conditions set with a margin over the climate of the time</a:t>
            </a:r>
            <a:endParaRPr lang="en-US" sz="1200" dirty="0"/>
          </a:p>
        </p:txBody>
      </p:sp>
      <p:sp>
        <p:nvSpPr>
          <p:cNvPr id="12" name="milestone 2006"/>
          <p:cNvSpPr/>
          <p:nvPr/>
        </p:nvSpPr>
        <p:spPr>
          <a:xfrm>
            <a:off x="4416552" y="1719072"/>
            <a:ext cx="310896" cy="310896"/>
          </a:xfrm>
          <a:prstGeom prst="ellipse">
            <a:avLst/>
          </a:prstGeom>
          <a:solidFill>
            <a:srgbClr val="1D2633"/>
          </a:solidFill>
          <a:ln w="25400">
            <a:solidFill>
              <a:srgbClr val="FFFFFF"/>
            </a:solidFill>
            <a:prstDash val="solid"/>
          </a:ln>
        </p:spPr>
      </p:sp>
      <p:sp>
        <p:nvSpPr>
          <p:cNvPr id="13" name="Text 11"/>
          <p:cNvSpPr txBox="1"/>
          <p:nvPr/>
        </p:nvSpPr>
        <p:spPr>
          <a:xfrm>
            <a:off x="3840480" y="1188720"/>
            <a:ext cx="1463040" cy="411480"/>
          </a:xfrm>
          <a:prstGeom prst="rect">
            <a:avLst/>
          </a:prstGeom>
          <a:noFill/>
        </p:spPr>
        <p:txBody>
          <a:bodyPr wrap="square" lIns="0" tIns="0" rIns="0" bIns="0" rtlCol="0" anchor="ctr"/>
          <a:lstStyle/>
          <a:p>
            <a:pPr marL="0" indent="0" algn="ctr">
              <a:buNone/>
            </a:pPr>
            <a:r>
              <a:rPr lang="en-US" sz="1800" b="1" dirty="0">
                <a:solidFill>
                  <a:srgbClr val="1D2633"/>
                </a:solidFill>
                <a:latin typeface="Cambria" panose="02040503050406030204" pitchFamily="34" charset="0"/>
                <a:ea typeface="Cambria" panose="02040503050406030204" pitchFamily="34" charset="-122"/>
                <a:cs typeface="Cambria" panose="02040503050406030204" pitchFamily="34" charset="-120"/>
              </a:rPr>
              <a:t>2006</a:t>
            </a:r>
            <a:endParaRPr lang="en-US" sz="1800" dirty="0"/>
          </a:p>
        </p:txBody>
      </p:sp>
      <p:sp>
        <p:nvSpPr>
          <p:cNvPr id="14" name="Text 12"/>
          <p:cNvSpPr txBox="1"/>
          <p:nvPr/>
        </p:nvSpPr>
        <p:spPr>
          <a:xfrm>
            <a:off x="3840480" y="2194560"/>
            <a:ext cx="1463040" cy="320040"/>
          </a:xfrm>
          <a:prstGeom prst="rect">
            <a:avLst/>
          </a:prstGeom>
          <a:noFill/>
        </p:spPr>
        <p:txBody>
          <a:bodyPr wrap="square" lIns="0" tIns="0" rIns="0" bIns="0" rtlCol="0" anchor="ctr"/>
          <a:lstStyle/>
          <a:p>
            <a:pPr marL="0" indent="0" algn="ctr">
              <a:buNone/>
            </a:pPr>
            <a:r>
              <a:rPr lang="en-US" sz="1400" b="1" dirty="0">
                <a:solidFill>
                  <a:srgbClr val="1D2633"/>
                </a:solidFill>
                <a:latin typeface="Calibri" panose="020F0502020204030204" pitchFamily="34" charset="0"/>
                <a:ea typeface="Calibri" panose="020F0502020204030204" pitchFamily="34" charset="-122"/>
                <a:cs typeface="Calibri" panose="020F0502020204030204" pitchFamily="34" charset="-120"/>
              </a:rPr>
              <a:t>WHO</a:t>
            </a:r>
            <a:endParaRPr lang="en-US" sz="1400" dirty="0"/>
          </a:p>
        </p:txBody>
      </p:sp>
      <p:sp>
        <p:nvSpPr>
          <p:cNvPr id="15" name="Text 13"/>
          <p:cNvSpPr txBox="1"/>
          <p:nvPr/>
        </p:nvSpPr>
        <p:spPr>
          <a:xfrm>
            <a:off x="3840480" y="2542032"/>
            <a:ext cx="1463040" cy="1188720"/>
          </a:xfrm>
          <a:prstGeom prst="rect">
            <a:avLst/>
          </a:prstGeom>
          <a:noFill/>
        </p:spPr>
        <p:txBody>
          <a:bodyPr wrap="square" lIns="0" tIns="0" rIns="0" bIns="0" rtlCol="0" anchor="t"/>
          <a:lstStyle/>
          <a:p>
            <a:pPr marL="0" indent="0" algn="ctr">
              <a:buNone/>
            </a:pPr>
            <a:r>
              <a:rPr lang="en-US" sz="1200" dirty="0">
                <a:solidFill>
                  <a:srgbClr val="3A4654"/>
                </a:solidFill>
                <a:latin typeface="Calibri" panose="020F0502020204030204" pitchFamily="34" charset="0"/>
                <a:ea typeface="Calibri" panose="020F0502020204030204" pitchFamily="34" charset="-122"/>
                <a:cs typeface="Calibri" panose="020F0502020204030204" pitchFamily="34" charset="-120"/>
              </a:rPr>
              <a:t>Adds 30 °C / 75% for very humid countries</a:t>
            </a:r>
            <a:endParaRPr lang="en-US" sz="1200" dirty="0"/>
          </a:p>
        </p:txBody>
      </p:sp>
      <p:sp>
        <p:nvSpPr>
          <p:cNvPr id="16" name="milestone 2024"/>
          <p:cNvSpPr/>
          <p:nvPr/>
        </p:nvSpPr>
        <p:spPr>
          <a:xfrm>
            <a:off x="6108192" y="1719072"/>
            <a:ext cx="310896" cy="310896"/>
          </a:xfrm>
          <a:prstGeom prst="ellipse">
            <a:avLst/>
          </a:prstGeom>
          <a:solidFill>
            <a:srgbClr val="1D2633"/>
          </a:solidFill>
          <a:ln w="25400">
            <a:solidFill>
              <a:srgbClr val="FFFFFF"/>
            </a:solidFill>
            <a:prstDash val="solid"/>
          </a:ln>
        </p:spPr>
      </p:sp>
      <p:sp>
        <p:nvSpPr>
          <p:cNvPr id="17" name="Text 15"/>
          <p:cNvSpPr txBox="1"/>
          <p:nvPr/>
        </p:nvSpPr>
        <p:spPr>
          <a:xfrm>
            <a:off x="5532120" y="1188720"/>
            <a:ext cx="1463040" cy="411480"/>
          </a:xfrm>
          <a:prstGeom prst="rect">
            <a:avLst/>
          </a:prstGeom>
          <a:noFill/>
        </p:spPr>
        <p:txBody>
          <a:bodyPr wrap="square" lIns="0" tIns="0" rIns="0" bIns="0" rtlCol="0" anchor="ctr"/>
          <a:lstStyle/>
          <a:p>
            <a:pPr marL="0" indent="0" algn="ctr">
              <a:buNone/>
            </a:pPr>
            <a:r>
              <a:rPr lang="en-US" sz="1800" b="1" dirty="0">
                <a:solidFill>
                  <a:srgbClr val="1D2633"/>
                </a:solidFill>
                <a:latin typeface="Cambria" panose="02040503050406030204" pitchFamily="34" charset="0"/>
                <a:ea typeface="Cambria" panose="02040503050406030204" pitchFamily="34" charset="-122"/>
                <a:cs typeface="Cambria" panose="02040503050406030204" pitchFamily="34" charset="-120"/>
              </a:rPr>
              <a:t>2024</a:t>
            </a:r>
            <a:endParaRPr lang="en-US" sz="1800" dirty="0"/>
          </a:p>
        </p:txBody>
      </p:sp>
      <p:sp>
        <p:nvSpPr>
          <p:cNvPr id="18" name="Text 16"/>
          <p:cNvSpPr txBox="1"/>
          <p:nvPr/>
        </p:nvSpPr>
        <p:spPr>
          <a:xfrm>
            <a:off x="5532120" y="2194560"/>
            <a:ext cx="1463040" cy="320040"/>
          </a:xfrm>
          <a:prstGeom prst="rect">
            <a:avLst/>
          </a:prstGeom>
          <a:noFill/>
        </p:spPr>
        <p:txBody>
          <a:bodyPr wrap="square" lIns="0" tIns="0" rIns="0" bIns="0" rtlCol="0" anchor="ctr"/>
          <a:lstStyle/>
          <a:p>
            <a:pPr marL="0" indent="0" algn="ctr">
              <a:buNone/>
            </a:pPr>
            <a:r>
              <a:rPr lang="en-US" sz="1400" b="1" dirty="0">
                <a:solidFill>
                  <a:srgbClr val="1D2633"/>
                </a:solidFill>
                <a:latin typeface="Calibri" panose="020F0502020204030204" pitchFamily="34" charset="0"/>
                <a:ea typeface="Calibri" panose="020F0502020204030204" pitchFamily="34" charset="-122"/>
                <a:cs typeface="Calibri" panose="020F0502020204030204" pitchFamily="34" charset="-120"/>
              </a:rPr>
              <a:t>Miura</a:t>
            </a:r>
            <a:endParaRPr lang="en-US" sz="1400" dirty="0"/>
          </a:p>
        </p:txBody>
      </p:sp>
      <p:sp>
        <p:nvSpPr>
          <p:cNvPr id="19" name="Text 17"/>
          <p:cNvSpPr txBox="1"/>
          <p:nvPr/>
        </p:nvSpPr>
        <p:spPr>
          <a:xfrm>
            <a:off x="5532120" y="2542032"/>
            <a:ext cx="1463040" cy="1188720"/>
          </a:xfrm>
          <a:prstGeom prst="rect">
            <a:avLst/>
          </a:prstGeom>
          <a:noFill/>
        </p:spPr>
        <p:txBody>
          <a:bodyPr wrap="square" lIns="0" tIns="0" rIns="0" bIns="0" rtlCol="0" anchor="t"/>
          <a:lstStyle/>
          <a:p>
            <a:pPr marL="0" indent="0" algn="ctr">
              <a:buNone/>
            </a:pPr>
            <a:r>
              <a:rPr lang="en-US" sz="1200" dirty="0">
                <a:solidFill>
                  <a:srgbClr val="3A4654"/>
                </a:solidFill>
                <a:latin typeface="Calibri" panose="020F0502020204030204" pitchFamily="34" charset="0"/>
                <a:ea typeface="Calibri" panose="020F0502020204030204" pitchFamily="34" charset="-122"/>
                <a:cs typeface="Calibri" panose="020F0502020204030204" pitchFamily="34" charset="-120"/>
              </a:rPr>
              <a:t>Japan re-checked with 1991–2020 data: still fine</a:t>
            </a:r>
            <a:endParaRPr lang="en-US" sz="1200" dirty="0"/>
          </a:p>
        </p:txBody>
      </p:sp>
      <p:sp>
        <p:nvSpPr>
          <p:cNvPr id="20" name="milestone Nov 2026"/>
          <p:cNvSpPr/>
          <p:nvPr/>
        </p:nvSpPr>
        <p:spPr>
          <a:xfrm>
            <a:off x="7799832" y="1719072"/>
            <a:ext cx="310896" cy="310896"/>
          </a:xfrm>
          <a:prstGeom prst="ellipse">
            <a:avLst/>
          </a:prstGeom>
          <a:solidFill>
            <a:srgbClr val="D9480F"/>
          </a:solidFill>
          <a:ln w="25400">
            <a:solidFill>
              <a:srgbClr val="FFFFFF"/>
            </a:solidFill>
            <a:prstDash val="solid"/>
          </a:ln>
        </p:spPr>
      </p:sp>
      <p:sp>
        <p:nvSpPr>
          <p:cNvPr id="21" name="Text 19"/>
          <p:cNvSpPr txBox="1"/>
          <p:nvPr/>
        </p:nvSpPr>
        <p:spPr>
          <a:xfrm>
            <a:off x="7223760" y="1188720"/>
            <a:ext cx="1463040" cy="411480"/>
          </a:xfrm>
          <a:prstGeom prst="rect">
            <a:avLst/>
          </a:prstGeom>
          <a:noFill/>
        </p:spPr>
        <p:txBody>
          <a:bodyPr wrap="square" lIns="0" tIns="0" rIns="0" bIns="0" rtlCol="0" anchor="ctr"/>
          <a:lstStyle/>
          <a:p>
            <a:pPr marL="0" indent="0" algn="ctr">
              <a:buNone/>
            </a:pPr>
            <a:r>
              <a:rPr lang="en-US" sz="1800" b="1" dirty="0">
                <a:solidFill>
                  <a:srgbClr val="D9480F"/>
                </a:solidFill>
                <a:latin typeface="Cambria" panose="02040503050406030204" pitchFamily="34" charset="0"/>
                <a:ea typeface="Cambria" panose="02040503050406030204" pitchFamily="34" charset="-122"/>
                <a:cs typeface="Cambria" panose="02040503050406030204" pitchFamily="34" charset="-120"/>
              </a:rPr>
              <a:t>Nov 2026</a:t>
            </a:r>
            <a:endParaRPr lang="en-US" sz="1800" dirty="0"/>
          </a:p>
        </p:txBody>
      </p:sp>
      <p:sp>
        <p:nvSpPr>
          <p:cNvPr id="22" name="Text 20"/>
          <p:cNvSpPr txBox="1"/>
          <p:nvPr/>
        </p:nvSpPr>
        <p:spPr>
          <a:xfrm>
            <a:off x="7223760" y="2194560"/>
            <a:ext cx="1463040" cy="320040"/>
          </a:xfrm>
          <a:prstGeom prst="rect">
            <a:avLst/>
          </a:prstGeom>
          <a:noFill/>
        </p:spPr>
        <p:txBody>
          <a:bodyPr wrap="square" lIns="0" tIns="0" rIns="0" bIns="0" rtlCol="0" anchor="ctr"/>
          <a:lstStyle/>
          <a:p>
            <a:pPr marL="0" indent="0" algn="ctr">
              <a:buNone/>
            </a:pPr>
            <a:r>
              <a:rPr lang="en-US" sz="1400" b="1" dirty="0">
                <a:solidFill>
                  <a:srgbClr val="1D2633"/>
                </a:solidFill>
                <a:latin typeface="Calibri" panose="020F0502020204030204" pitchFamily="34" charset="0"/>
                <a:ea typeface="Calibri" panose="020F0502020204030204" pitchFamily="34" charset="-122"/>
                <a:cs typeface="Calibri" panose="020F0502020204030204" pitchFamily="34" charset="-120"/>
              </a:rPr>
              <a:t>ICH Q1</a:t>
            </a:r>
            <a:endParaRPr lang="en-US" sz="1400" dirty="0"/>
          </a:p>
        </p:txBody>
      </p:sp>
      <p:sp>
        <p:nvSpPr>
          <p:cNvPr id="23" name="Text 21"/>
          <p:cNvSpPr txBox="1"/>
          <p:nvPr/>
        </p:nvSpPr>
        <p:spPr>
          <a:xfrm>
            <a:off x="7223760" y="2542032"/>
            <a:ext cx="1463040" cy="1188720"/>
          </a:xfrm>
          <a:prstGeom prst="rect">
            <a:avLst/>
          </a:prstGeom>
          <a:noFill/>
        </p:spPr>
        <p:txBody>
          <a:bodyPr wrap="square" lIns="0" tIns="0" rIns="0" bIns="0" rtlCol="0" anchor="t"/>
          <a:lstStyle/>
          <a:p>
            <a:pPr marL="0" indent="0" algn="ctr">
              <a:buNone/>
            </a:pPr>
            <a:r>
              <a:rPr lang="en-US" sz="1200" dirty="0">
                <a:solidFill>
                  <a:srgbClr val="3A4654"/>
                </a:solidFill>
                <a:latin typeface="Calibri" panose="020F0502020204030204" pitchFamily="34" charset="0"/>
                <a:ea typeface="Calibri" panose="020F0502020204030204" pitchFamily="34" charset="-122"/>
                <a:cs typeface="Calibri" panose="020F0502020204030204" pitchFamily="34" charset="-120"/>
              </a:rPr>
              <a:t>New global stability guideline due for adoption</a:t>
            </a:r>
            <a:endParaRPr lang="en-US" sz="1200" dirty="0"/>
          </a:p>
        </p:txBody>
      </p:sp>
      <p:sp>
        <p:nvSpPr>
          <p:cNvPr id="24" name="gap callout"/>
          <p:cNvSpPr/>
          <p:nvPr/>
        </p:nvSpPr>
        <p:spPr>
          <a:xfrm>
            <a:off x="457200" y="3840480"/>
            <a:ext cx="8229600" cy="640080"/>
          </a:xfrm>
          <a:prstGeom prst="roundRect">
            <a:avLst>
              <a:gd name="adj" fmla="val 14286"/>
            </a:avLst>
          </a:prstGeom>
          <a:solidFill>
            <a:srgbClr val="FBE7DE"/>
          </a:solidFill>
          <a:ln w="12700">
            <a:solidFill>
              <a:srgbClr val="FBE7DE"/>
            </a:solidFill>
            <a:prstDash val="solid"/>
          </a:ln>
        </p:spPr>
      </p:sp>
      <p:sp>
        <p:nvSpPr>
          <p:cNvPr id="25" name="Text 23"/>
          <p:cNvSpPr txBox="1"/>
          <p:nvPr/>
        </p:nvSpPr>
        <p:spPr>
          <a:xfrm>
            <a:off x="640080" y="3840480"/>
            <a:ext cx="7863840" cy="640080"/>
          </a:xfrm>
          <a:prstGeom prst="rect">
            <a:avLst/>
          </a:prstGeom>
          <a:noFill/>
        </p:spPr>
        <p:txBody>
          <a:bodyPr wrap="square" lIns="0" tIns="0" rIns="0" bIns="0" rtlCol="0" anchor="ctr"/>
          <a:lstStyle/>
          <a:p>
            <a:pPr marL="0" indent="0">
              <a:buNone/>
            </a:pPr>
            <a:r>
              <a:rPr lang="en-US" sz="1400" b="1" dirty="0">
                <a:solidFill>
                  <a:srgbClr val="1D2633"/>
                </a:solidFill>
                <a:latin typeface="Calibri" panose="020F0502020204030204" pitchFamily="34" charset="0"/>
                <a:ea typeface="Calibri" panose="020F0502020204030204" pitchFamily="34" charset="-122"/>
                <a:cs typeface="Calibri" panose="020F0502020204030204" pitchFamily="34" charset="-120"/>
              </a:rPr>
              <a:t>The gap: no multi-decade, multi-country re-check of whether today’s climate still sits inside these conditions — we found none.</a:t>
            </a:r>
            <a:endParaRPr lang="en-US" sz="1400" dirty="0"/>
          </a:p>
        </p:txBody>
      </p:sp>
      <p:sp>
        <p:nvSpPr>
          <p:cNvPr id="26" name="Slide Number Placeholder 0"/>
          <p:cNvSpPr>
            <a:spLocks noGrp="1"/>
          </p:cNvSpPr>
          <p:nvPr>
            <p:ph type="sldNum" sz="quarter" idx="4294967295"/>
          </p:nvPr>
        </p:nvSpPr>
        <p:spPr>
          <a:xfrm>
            <a:off x="8321040" y="4754880"/>
            <a:ext cx="365760" cy="228600"/>
          </a:xfrm>
          <a:prstGeom prst="rect">
            <a:avLst/>
          </a:prstGeom>
        </p:spPr>
        <p:txBody>
          <a:bodyPr/>
          <a:lstStyle>
            <a:lvl1pPr>
              <a:defRPr sz="900">
                <a:solidFill>
                  <a:srgbClr val="5B6672"/>
                </a:solidFill>
              </a:defRPr>
            </a:lvl1pPr>
          </a:lstStyle>
          <a:p>
            <a:pPr algn="r"/>
            <a:fld id="{F7021451-1387-4CA6-816F-3879F97B5CBC}" type="slidenum">
              <a:rPr lang="en-US" b="0"/>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ph type="title" idx="100" hasCustomPrompt="1"/>
          </p:nvPr>
        </p:nvSpPr>
        <p:spPr>
          <a:xfrm>
            <a:off x="457200" y="274320"/>
            <a:ext cx="8229600" cy="731520"/>
          </a:xfrm>
          <a:prstGeom prst="rect">
            <a:avLst/>
          </a:prstGeom>
          <a:noFill/>
        </p:spPr>
        <p:txBody>
          <a:bodyPr wrap="square" lIns="0" tIns="0" rIns="0" bIns="0" rtlCol="0" anchor="t"/>
          <a:lstStyle/>
          <a:p>
            <a:pPr marL="0" indent="0" algn="l">
              <a:buNone/>
            </a:pPr>
            <a:r>
              <a:rPr lang="en-US" sz="2800" b="1" dirty="0">
                <a:solidFill>
                  <a:schemeClr val="tx1"/>
                </a:solidFill>
                <a:latin typeface="Cambria" panose="02040503050406030204" pitchFamily="34" charset="0"/>
                <a:ea typeface="Cambria" panose="02040503050406030204" pitchFamily="34" charset="-122"/>
                <a:cs typeface="Cambria" panose="02040503050406030204" pitchFamily="34" charset="-120"/>
              </a:rPr>
              <a:t>Our idea: test the standard against today’s climate</a:t>
            </a:r>
            <a:endParaRPr lang="en-US" sz="2800" dirty="0"/>
          </a:p>
        </p:txBody>
      </p:sp>
      <p:pic>
        <p:nvPicPr>
          <p:cNvPr id="3" name="conceptual model" descr="figures/fig1_model.png"/>
          <p:cNvPicPr>
            <a:picLocks noChangeAspect="1"/>
          </p:cNvPicPr>
          <p:nvPr/>
        </p:nvPicPr>
        <p:blipFill>
          <a:blip r:embed="rId1"/>
          <a:stretch>
            <a:fillRect/>
          </a:stretch>
        </p:blipFill>
        <p:spPr>
          <a:xfrm>
            <a:off x="1097280" y="1051560"/>
            <a:ext cx="6949440" cy="2910760"/>
          </a:xfrm>
          <a:prstGeom prst="rect">
            <a:avLst/>
          </a:prstGeom>
        </p:spPr>
      </p:pic>
      <p:sp>
        <p:nvSpPr>
          <p:cNvPr id="4" name="Text 1"/>
          <p:cNvSpPr txBox="1"/>
          <p:nvPr/>
        </p:nvSpPr>
        <p:spPr>
          <a:xfrm>
            <a:off x="457200" y="4069080"/>
            <a:ext cx="8229600" cy="548640"/>
          </a:xfrm>
          <a:prstGeom prst="rect">
            <a:avLst/>
          </a:prstGeom>
          <a:noFill/>
        </p:spPr>
        <p:txBody>
          <a:bodyPr wrap="square" lIns="0" tIns="0" rIns="0" bIns="0" rtlCol="0" anchor="t"/>
          <a:lstStyle/>
          <a:p>
            <a:pPr marL="0" indent="0">
              <a:buNone/>
            </a:pPr>
            <a:r>
              <a:rPr lang="en-US" sz="1350" dirty="0">
                <a:solidFill>
                  <a:srgbClr val="1D2633"/>
                </a:solidFill>
                <a:latin typeface="Calibri" panose="020F0502020204030204" pitchFamily="34" charset="0"/>
                <a:ea typeface="Calibri" panose="020F0502020204030204" pitchFamily="34" charset="-122"/>
                <a:cs typeface="Calibri" panose="020F0502020204030204" pitchFamily="34" charset="-120"/>
              </a:rPr>
              <a:t>Re-run the regulators’ own climate calculation every year, 1981–2025 — not once. </a:t>
            </a:r>
            <a:r>
              <a:rPr lang="en-US" sz="1350" dirty="0">
                <a:solidFill>
                  <a:srgbClr val="3A4654"/>
                </a:solidFill>
                <a:latin typeface="Calibri" panose="020F0502020204030204" pitchFamily="34" charset="0"/>
                <a:ea typeface="Calibri" panose="020F0502020204030204" pitchFamily="34" charset="-122"/>
                <a:cs typeface="Calibri" panose="020F0502020204030204" pitchFamily="34" charset="-120"/>
              </a:rPr>
              <a:t>The formula is from 1971; what is new is the repeated, below-country, temperature-and-humidity audit.</a:t>
            </a:r>
            <a:endParaRPr lang="en-US" sz="1350" dirty="0"/>
          </a:p>
        </p:txBody>
      </p:sp>
      <p:sp>
        <p:nvSpPr>
          <p:cNvPr id="25" name="Slide Number Placeholder 0"/>
          <p:cNvSpPr>
            <a:spLocks noGrp="1"/>
          </p:cNvSpPr>
          <p:nvPr>
            <p:ph type="sldNum" sz="quarter" idx="4294967295"/>
          </p:nvPr>
        </p:nvSpPr>
        <p:spPr>
          <a:xfrm>
            <a:off x="8321040" y="4754880"/>
            <a:ext cx="365760" cy="228600"/>
          </a:xfrm>
          <a:prstGeom prst="rect">
            <a:avLst/>
          </a:prstGeom>
        </p:spPr>
        <p:txBody>
          <a:bodyPr/>
          <a:lstStyle>
            <a:lvl1pPr>
              <a:defRPr sz="900">
                <a:solidFill>
                  <a:srgbClr val="5B6672"/>
                </a:solidFill>
              </a:defRPr>
            </a:lvl1pPr>
          </a:lstStyle>
          <a:p>
            <a:pPr algn="r"/>
            <a:fld id="{F7021451-1387-4CA6-816F-3879F97B5CBC}" type="slidenum">
              <a:rPr lang="en-US" b="0"/>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ph type="title" idx="100" hasCustomPrompt="1"/>
          </p:nvPr>
        </p:nvSpPr>
        <p:spPr>
          <a:xfrm>
            <a:off x="457200" y="274320"/>
            <a:ext cx="8229600" cy="731520"/>
          </a:xfrm>
          <a:prstGeom prst="rect">
            <a:avLst/>
          </a:prstGeom>
          <a:noFill/>
        </p:spPr>
        <p:txBody>
          <a:bodyPr wrap="square" lIns="0" tIns="0" rIns="0" bIns="0" rtlCol="0" anchor="t"/>
          <a:lstStyle/>
          <a:p>
            <a:pPr marL="0" indent="0" algn="l">
              <a:buNone/>
            </a:pPr>
            <a:r>
              <a:rPr lang="en-US" sz="2800" b="1" dirty="0">
                <a:solidFill>
                  <a:schemeClr val="tx1"/>
                </a:solidFill>
                <a:latin typeface="Cambria" panose="02040503050406030204" pitchFamily="34" charset="0"/>
                <a:ea typeface="Cambria" panose="02040503050406030204" pitchFamily="34" charset="-122"/>
                <a:cs typeface="Cambria" panose="02040503050406030204" pitchFamily="34" charset="-120"/>
              </a:rPr>
              <a:t>How it works</a:t>
            </a:r>
            <a:endParaRPr lang="en-US" sz="2800" dirty="0"/>
          </a:p>
        </p:txBody>
      </p:sp>
      <p:sp>
        <p:nvSpPr>
          <p:cNvPr id="3" name="stat places"/>
          <p:cNvSpPr/>
          <p:nvPr/>
        </p:nvSpPr>
        <p:spPr>
          <a:xfrm>
            <a:off x="457200" y="1188720"/>
            <a:ext cx="1920240" cy="2331720"/>
          </a:xfrm>
          <a:prstGeom prst="roundRect">
            <a:avLst>
              <a:gd name="adj" fmla="val 4762"/>
            </a:avLst>
          </a:prstGeom>
          <a:solidFill>
            <a:srgbClr val="F2F4F6"/>
          </a:solidFill>
          <a:ln w="12700">
            <a:solidFill>
              <a:srgbClr val="F2F4F6"/>
            </a:solidFill>
            <a:prstDash val="solid"/>
          </a:ln>
        </p:spPr>
      </p:sp>
      <p:sp>
        <p:nvSpPr>
          <p:cNvPr id="4" name="Text 2"/>
          <p:cNvSpPr txBox="1"/>
          <p:nvPr/>
        </p:nvSpPr>
        <p:spPr>
          <a:xfrm>
            <a:off x="594360" y="1325880"/>
            <a:ext cx="1645920" cy="777240"/>
          </a:xfrm>
          <a:prstGeom prst="rect">
            <a:avLst/>
          </a:prstGeom>
          <a:noFill/>
        </p:spPr>
        <p:txBody>
          <a:bodyPr wrap="square" lIns="0" tIns="0" rIns="0" bIns="0" rtlCol="0" anchor="b"/>
          <a:lstStyle/>
          <a:p>
            <a:pPr marL="0" indent="0">
              <a:buNone/>
            </a:pPr>
            <a:r>
              <a:rPr lang="en-US" sz="4000" b="1" dirty="0">
                <a:solidFill>
                  <a:srgbClr val="D9480F"/>
                </a:solidFill>
                <a:latin typeface="Cambria" panose="02040503050406030204" pitchFamily="34" charset="0"/>
                <a:ea typeface="Cambria" panose="02040503050406030204" pitchFamily="34" charset="-122"/>
                <a:cs typeface="Cambria" panose="02040503050406030204" pitchFamily="34" charset="-120"/>
              </a:rPr>
              <a:t>18</a:t>
            </a:r>
            <a:endParaRPr lang="en-US" sz="4000" dirty="0"/>
          </a:p>
        </p:txBody>
      </p:sp>
      <p:sp>
        <p:nvSpPr>
          <p:cNvPr id="5" name="Text 3"/>
          <p:cNvSpPr txBox="1"/>
          <p:nvPr/>
        </p:nvSpPr>
        <p:spPr>
          <a:xfrm>
            <a:off x="594360" y="2121408"/>
            <a:ext cx="1645920" cy="320040"/>
          </a:xfrm>
          <a:prstGeom prst="rect">
            <a:avLst/>
          </a:prstGeom>
          <a:noFill/>
        </p:spPr>
        <p:txBody>
          <a:bodyPr wrap="square" lIns="0" tIns="0" rIns="0" bIns="0" rtlCol="0" anchor="ctr"/>
          <a:lstStyle/>
          <a:p>
            <a:pPr marL="0" indent="0">
              <a:buNone/>
            </a:pPr>
            <a:r>
              <a:rPr lang="en-US" sz="1500" b="1" dirty="0">
                <a:solidFill>
                  <a:srgbClr val="1D2633"/>
                </a:solidFill>
                <a:latin typeface="Calibri" panose="020F0502020204030204" pitchFamily="34" charset="0"/>
                <a:ea typeface="Calibri" panose="020F0502020204030204" pitchFamily="34" charset="-122"/>
                <a:cs typeface="Calibri" panose="020F0502020204030204" pitchFamily="34" charset="-120"/>
              </a:rPr>
              <a:t>places</a:t>
            </a:r>
            <a:endParaRPr lang="en-US" sz="1500" dirty="0"/>
          </a:p>
        </p:txBody>
      </p:sp>
      <p:sp>
        <p:nvSpPr>
          <p:cNvPr id="6" name="Text 4"/>
          <p:cNvSpPr txBox="1"/>
          <p:nvPr/>
        </p:nvSpPr>
        <p:spPr>
          <a:xfrm>
            <a:off x="594360" y="2487168"/>
            <a:ext cx="1645920" cy="960120"/>
          </a:xfrm>
          <a:prstGeom prst="rect">
            <a:avLst/>
          </a:prstGeom>
          <a:noFill/>
        </p:spPr>
        <p:txBody>
          <a:bodyPr wrap="square" lIns="0" tIns="0" rIns="0" bIns="0" rtlCol="0" anchor="t"/>
          <a:lstStyle/>
          <a:p>
            <a:pPr marL="0" indent="0">
              <a:buNone/>
            </a:pPr>
            <a:r>
              <a:rPr lang="en-US" sz="1200" dirty="0">
                <a:solidFill>
                  <a:srgbClr val="3A4654"/>
                </a:solidFill>
                <a:latin typeface="Calibri" panose="020F0502020204030204" pitchFamily="34" charset="0"/>
                <a:ea typeface="Calibri" panose="020F0502020204030204" pitchFamily="34" charset="-122"/>
                <a:cs typeface="Calibri" panose="020F0502020204030204" pitchFamily="34" charset="-120"/>
              </a:rPr>
              <a:t>10 from ERA5 reanalysis, 8 from NOAA weather stations</a:t>
            </a:r>
            <a:endParaRPr lang="en-US" sz="1200" dirty="0"/>
          </a:p>
        </p:txBody>
      </p:sp>
      <p:sp>
        <p:nvSpPr>
          <p:cNvPr id="7" name="stat years"/>
          <p:cNvSpPr/>
          <p:nvPr/>
        </p:nvSpPr>
        <p:spPr>
          <a:xfrm>
            <a:off x="2560320" y="1188720"/>
            <a:ext cx="1920240" cy="2331720"/>
          </a:xfrm>
          <a:prstGeom prst="roundRect">
            <a:avLst>
              <a:gd name="adj" fmla="val 4762"/>
            </a:avLst>
          </a:prstGeom>
          <a:solidFill>
            <a:srgbClr val="F2F4F6"/>
          </a:solidFill>
          <a:ln w="12700">
            <a:solidFill>
              <a:srgbClr val="F2F4F6"/>
            </a:solidFill>
            <a:prstDash val="solid"/>
          </a:ln>
        </p:spPr>
      </p:sp>
      <p:sp>
        <p:nvSpPr>
          <p:cNvPr id="8" name="Text 6"/>
          <p:cNvSpPr txBox="1"/>
          <p:nvPr/>
        </p:nvSpPr>
        <p:spPr>
          <a:xfrm>
            <a:off x="2697480" y="1325880"/>
            <a:ext cx="1645920" cy="777240"/>
          </a:xfrm>
          <a:prstGeom prst="rect">
            <a:avLst/>
          </a:prstGeom>
          <a:noFill/>
        </p:spPr>
        <p:txBody>
          <a:bodyPr wrap="square" lIns="0" tIns="0" rIns="0" bIns="0" rtlCol="0" anchor="b"/>
          <a:lstStyle/>
          <a:p>
            <a:pPr marL="0" indent="0">
              <a:buNone/>
            </a:pPr>
            <a:r>
              <a:rPr lang="en-US" sz="4000" b="1" dirty="0">
                <a:solidFill>
                  <a:srgbClr val="D9480F"/>
                </a:solidFill>
                <a:latin typeface="Cambria" panose="02040503050406030204" pitchFamily="34" charset="0"/>
                <a:ea typeface="Cambria" panose="02040503050406030204" pitchFamily="34" charset="-122"/>
                <a:cs typeface="Cambria" panose="02040503050406030204" pitchFamily="34" charset="-120"/>
              </a:rPr>
              <a:t>45</a:t>
            </a:r>
            <a:endParaRPr lang="en-US" sz="4000" dirty="0"/>
          </a:p>
        </p:txBody>
      </p:sp>
      <p:sp>
        <p:nvSpPr>
          <p:cNvPr id="9" name="Text 7"/>
          <p:cNvSpPr txBox="1"/>
          <p:nvPr/>
        </p:nvSpPr>
        <p:spPr>
          <a:xfrm>
            <a:off x="2697480" y="2121408"/>
            <a:ext cx="1645920" cy="320040"/>
          </a:xfrm>
          <a:prstGeom prst="rect">
            <a:avLst/>
          </a:prstGeom>
          <a:noFill/>
        </p:spPr>
        <p:txBody>
          <a:bodyPr wrap="square" lIns="0" tIns="0" rIns="0" bIns="0" rtlCol="0" anchor="ctr"/>
          <a:lstStyle/>
          <a:p>
            <a:pPr marL="0" indent="0">
              <a:buNone/>
            </a:pPr>
            <a:r>
              <a:rPr lang="en-US" sz="1500" b="1" dirty="0">
                <a:solidFill>
                  <a:srgbClr val="1D2633"/>
                </a:solidFill>
                <a:latin typeface="Calibri" panose="020F0502020204030204" pitchFamily="34" charset="0"/>
                <a:ea typeface="Calibri" panose="020F0502020204030204" pitchFamily="34" charset="-122"/>
                <a:cs typeface="Calibri" panose="020F0502020204030204" pitchFamily="34" charset="-120"/>
              </a:rPr>
              <a:t>years</a:t>
            </a:r>
            <a:endParaRPr lang="en-US" sz="1500" dirty="0"/>
          </a:p>
        </p:txBody>
      </p:sp>
      <p:sp>
        <p:nvSpPr>
          <p:cNvPr id="10" name="Text 8"/>
          <p:cNvSpPr txBox="1"/>
          <p:nvPr/>
        </p:nvSpPr>
        <p:spPr>
          <a:xfrm>
            <a:off x="2697480" y="2487168"/>
            <a:ext cx="1645920" cy="960120"/>
          </a:xfrm>
          <a:prstGeom prst="rect">
            <a:avLst/>
          </a:prstGeom>
          <a:noFill/>
        </p:spPr>
        <p:txBody>
          <a:bodyPr wrap="square" lIns="0" tIns="0" rIns="0" bIns="0" rtlCol="0" anchor="t"/>
          <a:lstStyle/>
          <a:p>
            <a:pPr marL="0" indent="0">
              <a:buNone/>
            </a:pPr>
            <a:r>
              <a:rPr lang="en-US" sz="1200" dirty="0">
                <a:solidFill>
                  <a:srgbClr val="3A4654"/>
                </a:solidFill>
                <a:latin typeface="Calibri" panose="020F0502020204030204" pitchFamily="34" charset="0"/>
                <a:ea typeface="Calibri" panose="020F0502020204030204" pitchFamily="34" charset="-122"/>
                <a:cs typeface="Calibri" panose="020F0502020204030204" pitchFamily="34" charset="-120"/>
              </a:rPr>
              <a:t>1981–2000 compared with 2006–2025</a:t>
            </a:r>
            <a:endParaRPr lang="en-US" sz="1200" dirty="0"/>
          </a:p>
        </p:txBody>
      </p:sp>
      <p:sp>
        <p:nvSpPr>
          <p:cNvPr id="11" name="stat bias removed"/>
          <p:cNvSpPr/>
          <p:nvPr/>
        </p:nvSpPr>
        <p:spPr>
          <a:xfrm>
            <a:off x="4663440" y="1188720"/>
            <a:ext cx="1920240" cy="2331720"/>
          </a:xfrm>
          <a:prstGeom prst="roundRect">
            <a:avLst>
              <a:gd name="adj" fmla="val 4762"/>
            </a:avLst>
          </a:prstGeom>
          <a:solidFill>
            <a:srgbClr val="F2F4F6"/>
          </a:solidFill>
          <a:ln w="12700">
            <a:solidFill>
              <a:srgbClr val="F2F4F6"/>
            </a:solidFill>
            <a:prstDash val="solid"/>
          </a:ln>
        </p:spPr>
      </p:sp>
      <p:sp>
        <p:nvSpPr>
          <p:cNvPr id="12" name="Text 10"/>
          <p:cNvSpPr txBox="1"/>
          <p:nvPr/>
        </p:nvSpPr>
        <p:spPr>
          <a:xfrm>
            <a:off x="4800600" y="1325880"/>
            <a:ext cx="1645920" cy="777240"/>
          </a:xfrm>
          <a:prstGeom prst="rect">
            <a:avLst/>
          </a:prstGeom>
          <a:noFill/>
        </p:spPr>
        <p:txBody>
          <a:bodyPr wrap="square" lIns="0" tIns="0" rIns="0" bIns="0" rtlCol="0" anchor="b"/>
          <a:lstStyle/>
          <a:p>
            <a:pPr marL="0" indent="0">
              <a:buNone/>
            </a:pPr>
            <a:r>
              <a:rPr lang="en-US" sz="4000" b="1" dirty="0">
                <a:solidFill>
                  <a:srgbClr val="D9480F"/>
                </a:solidFill>
                <a:latin typeface="Cambria" panose="02040503050406030204" pitchFamily="34" charset="0"/>
                <a:ea typeface="Cambria" panose="02040503050406030204" pitchFamily="34" charset="-122"/>
                <a:cs typeface="Cambria" panose="02040503050406030204" pitchFamily="34" charset="-120"/>
              </a:rPr>
              <a:t>0.3 °C</a:t>
            </a:r>
            <a:endParaRPr lang="en-US" sz="4000" dirty="0"/>
          </a:p>
        </p:txBody>
      </p:sp>
      <p:sp>
        <p:nvSpPr>
          <p:cNvPr id="13" name="Text 11"/>
          <p:cNvSpPr txBox="1"/>
          <p:nvPr/>
        </p:nvSpPr>
        <p:spPr>
          <a:xfrm>
            <a:off x="4800600" y="2121408"/>
            <a:ext cx="1645920" cy="320040"/>
          </a:xfrm>
          <a:prstGeom prst="rect">
            <a:avLst/>
          </a:prstGeom>
          <a:noFill/>
        </p:spPr>
        <p:txBody>
          <a:bodyPr wrap="square" lIns="0" tIns="0" rIns="0" bIns="0" rtlCol="0" anchor="ctr"/>
          <a:lstStyle/>
          <a:p>
            <a:pPr marL="0" indent="0">
              <a:buNone/>
            </a:pPr>
            <a:r>
              <a:rPr lang="en-US" sz="1500" b="1" dirty="0">
                <a:solidFill>
                  <a:srgbClr val="1D2633"/>
                </a:solidFill>
                <a:latin typeface="Calibri" panose="020F0502020204030204" pitchFamily="34" charset="0"/>
                <a:ea typeface="Calibri" panose="020F0502020204030204" pitchFamily="34" charset="-122"/>
                <a:cs typeface="Calibri" panose="020F0502020204030204" pitchFamily="34" charset="-120"/>
              </a:rPr>
              <a:t>bias removed</a:t>
            </a:r>
            <a:endParaRPr lang="en-US" sz="1500" dirty="0"/>
          </a:p>
        </p:txBody>
      </p:sp>
      <p:sp>
        <p:nvSpPr>
          <p:cNvPr id="14" name="Text 12"/>
          <p:cNvSpPr txBox="1"/>
          <p:nvPr/>
        </p:nvSpPr>
        <p:spPr>
          <a:xfrm>
            <a:off x="4800600" y="2487168"/>
            <a:ext cx="1645920" cy="960120"/>
          </a:xfrm>
          <a:prstGeom prst="rect">
            <a:avLst/>
          </a:prstGeom>
          <a:noFill/>
        </p:spPr>
        <p:txBody>
          <a:bodyPr wrap="square" lIns="0" tIns="0" rIns="0" bIns="0" rtlCol="0" anchor="t"/>
          <a:lstStyle/>
          <a:p>
            <a:pPr marL="0" indent="0">
              <a:buNone/>
            </a:pPr>
            <a:r>
              <a:rPr lang="en-US" sz="1200" dirty="0">
                <a:solidFill>
                  <a:srgbClr val="3A4654"/>
                </a:solidFill>
                <a:latin typeface="Calibri" panose="020F0502020204030204" pitchFamily="34" charset="0"/>
                <a:ea typeface="Calibri" panose="020F0502020204030204" pitchFamily="34" charset="-122"/>
                <a:cs typeface="Calibri" panose="020F0502020204030204" pitchFamily="34" charset="-120"/>
              </a:rPr>
              <a:t>measured against hourly station data</a:t>
            </a:r>
            <a:endParaRPr lang="en-US" sz="1200" dirty="0"/>
          </a:p>
        </p:txBody>
      </p:sp>
      <p:sp>
        <p:nvSpPr>
          <p:cNvPr id="15" name="stat built-in checks"/>
          <p:cNvSpPr/>
          <p:nvPr/>
        </p:nvSpPr>
        <p:spPr>
          <a:xfrm>
            <a:off x="6766560" y="1188720"/>
            <a:ext cx="1920240" cy="2331720"/>
          </a:xfrm>
          <a:prstGeom prst="roundRect">
            <a:avLst>
              <a:gd name="adj" fmla="val 4762"/>
            </a:avLst>
          </a:prstGeom>
          <a:solidFill>
            <a:srgbClr val="F2F4F6"/>
          </a:solidFill>
          <a:ln w="12700">
            <a:solidFill>
              <a:srgbClr val="F2F4F6"/>
            </a:solidFill>
            <a:prstDash val="solid"/>
          </a:ln>
        </p:spPr>
      </p:sp>
      <p:sp>
        <p:nvSpPr>
          <p:cNvPr id="16" name="Text 14"/>
          <p:cNvSpPr txBox="1"/>
          <p:nvPr/>
        </p:nvSpPr>
        <p:spPr>
          <a:xfrm>
            <a:off x="6903720" y="1325880"/>
            <a:ext cx="1645920" cy="777240"/>
          </a:xfrm>
          <a:prstGeom prst="rect">
            <a:avLst/>
          </a:prstGeom>
          <a:noFill/>
        </p:spPr>
        <p:txBody>
          <a:bodyPr wrap="square" lIns="0" tIns="0" rIns="0" bIns="0" rtlCol="0" anchor="b"/>
          <a:lstStyle/>
          <a:p>
            <a:pPr marL="0" indent="0">
              <a:buNone/>
            </a:pPr>
            <a:r>
              <a:rPr lang="en-US" sz="4000" b="1" dirty="0">
                <a:solidFill>
                  <a:srgbClr val="D9480F"/>
                </a:solidFill>
                <a:latin typeface="Cambria" panose="02040503050406030204" pitchFamily="34" charset="0"/>
                <a:ea typeface="Cambria" panose="02040503050406030204" pitchFamily="34" charset="-122"/>
                <a:cs typeface="Cambria" panose="02040503050406030204" pitchFamily="34" charset="-120"/>
              </a:rPr>
              <a:t>3</a:t>
            </a:r>
            <a:endParaRPr lang="en-US" sz="4000" dirty="0"/>
          </a:p>
        </p:txBody>
      </p:sp>
      <p:sp>
        <p:nvSpPr>
          <p:cNvPr id="17" name="Text 15"/>
          <p:cNvSpPr txBox="1"/>
          <p:nvPr/>
        </p:nvSpPr>
        <p:spPr>
          <a:xfrm>
            <a:off x="6903720" y="2121408"/>
            <a:ext cx="1645920" cy="320040"/>
          </a:xfrm>
          <a:prstGeom prst="rect">
            <a:avLst/>
          </a:prstGeom>
          <a:noFill/>
        </p:spPr>
        <p:txBody>
          <a:bodyPr wrap="square" lIns="0" tIns="0" rIns="0" bIns="0" rtlCol="0" anchor="ctr"/>
          <a:lstStyle/>
          <a:p>
            <a:pPr marL="0" indent="0">
              <a:buNone/>
            </a:pPr>
            <a:r>
              <a:rPr lang="en-US" sz="1500" b="1" dirty="0">
                <a:solidFill>
                  <a:srgbClr val="1D2633"/>
                </a:solidFill>
                <a:latin typeface="Calibri" panose="020F0502020204030204" pitchFamily="34" charset="0"/>
                <a:ea typeface="Calibri" panose="020F0502020204030204" pitchFamily="34" charset="-122"/>
                <a:cs typeface="Calibri" panose="020F0502020204030204" pitchFamily="34" charset="-120"/>
              </a:rPr>
              <a:t>built-in checks</a:t>
            </a:r>
            <a:endParaRPr lang="en-US" sz="1500" dirty="0"/>
          </a:p>
        </p:txBody>
      </p:sp>
      <p:sp>
        <p:nvSpPr>
          <p:cNvPr id="18" name="Text 16"/>
          <p:cNvSpPr txBox="1"/>
          <p:nvPr/>
        </p:nvSpPr>
        <p:spPr>
          <a:xfrm>
            <a:off x="6903720" y="2487168"/>
            <a:ext cx="1645920" cy="960120"/>
          </a:xfrm>
          <a:prstGeom prst="rect">
            <a:avLst/>
          </a:prstGeom>
          <a:noFill/>
        </p:spPr>
        <p:txBody>
          <a:bodyPr wrap="square" lIns="0" tIns="0" rIns="0" bIns="0" rtlCol="0" anchor="t"/>
          <a:lstStyle/>
          <a:p>
            <a:pPr marL="0" indent="0">
              <a:buNone/>
            </a:pPr>
            <a:r>
              <a:rPr lang="en-US" sz="1200" dirty="0">
                <a:solidFill>
                  <a:srgbClr val="3A4654"/>
                </a:solidFill>
                <a:latin typeface="Calibri" panose="020F0502020204030204" pitchFamily="34" charset="0"/>
                <a:ea typeface="Calibri" panose="020F0502020204030204" pitchFamily="34" charset="-122"/>
                <a:cs typeface="Calibri" panose="020F0502020204030204" pitchFamily="34" charset="-120"/>
              </a:rPr>
              <a:t>positive control (Tokyo), hourly bias check, reanalysis vs station</a:t>
            </a:r>
            <a:endParaRPr lang="en-US" sz="1200" dirty="0"/>
          </a:p>
        </p:txBody>
      </p:sp>
      <p:sp>
        <p:nvSpPr>
          <p:cNvPr id="19" name="Text 17"/>
          <p:cNvSpPr txBox="1"/>
          <p:nvPr/>
        </p:nvSpPr>
        <p:spPr>
          <a:xfrm>
            <a:off x="457200" y="3749040"/>
            <a:ext cx="8229600" cy="685800"/>
          </a:xfrm>
          <a:prstGeom prst="rect">
            <a:avLst/>
          </a:prstGeom>
          <a:noFill/>
        </p:spPr>
        <p:txBody>
          <a:bodyPr wrap="square" lIns="0" tIns="0" rIns="0" bIns="0" rtlCol="0" anchor="t"/>
          <a:lstStyle/>
          <a:p>
            <a:pPr marL="0" indent="0">
              <a:buNone/>
            </a:pPr>
            <a:r>
              <a:rPr lang="en-US" sz="1300" dirty="0">
                <a:solidFill>
                  <a:srgbClr val="3A4654"/>
                </a:solidFill>
                <a:latin typeface="Calibri" panose="020F0502020204030204" pitchFamily="34" charset="0"/>
                <a:ea typeface="Calibri" panose="020F0502020204030204" pitchFamily="34" charset="-122"/>
                <a:cs typeface="Calibri" panose="020F0502020204030204" pitchFamily="34" charset="-120"/>
              </a:rPr>
              <a:t>Effective temperature = mean kinetic temperature (MKT): the steady temperature that would cause the same total chemical damage as the real, fluctuating one. Hypotheses and pass/fail rules were written before any data were downloaded.</a:t>
            </a:r>
            <a:endParaRPr lang="en-US" sz="1300" dirty="0"/>
          </a:p>
        </p:txBody>
      </p:sp>
      <p:sp>
        <p:nvSpPr>
          <p:cNvPr id="25" name="Slide Number Placeholder 0"/>
          <p:cNvSpPr>
            <a:spLocks noGrp="1"/>
          </p:cNvSpPr>
          <p:nvPr>
            <p:ph type="sldNum" sz="quarter" idx="4294967295"/>
          </p:nvPr>
        </p:nvSpPr>
        <p:spPr>
          <a:xfrm>
            <a:off x="8321040" y="4754880"/>
            <a:ext cx="365760" cy="228600"/>
          </a:xfrm>
          <a:prstGeom prst="rect">
            <a:avLst/>
          </a:prstGeom>
        </p:spPr>
        <p:txBody>
          <a:bodyPr/>
          <a:lstStyle>
            <a:lvl1pPr>
              <a:defRPr sz="900">
                <a:solidFill>
                  <a:srgbClr val="5B6672"/>
                </a:solidFill>
              </a:defRPr>
            </a:lvl1pPr>
          </a:lstStyle>
          <a:p>
            <a:pPr algn="r"/>
            <a:fld id="{F7021451-1387-4CA6-816F-3879F97B5CBC}" type="slidenum">
              <a:rPr lang="en-US" b="0"/>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ph type="title" idx="100" hasCustomPrompt="1"/>
          </p:nvPr>
        </p:nvSpPr>
        <p:spPr>
          <a:xfrm>
            <a:off x="457200" y="274320"/>
            <a:ext cx="8229600" cy="731520"/>
          </a:xfrm>
          <a:prstGeom prst="rect">
            <a:avLst/>
          </a:prstGeom>
          <a:noFill/>
        </p:spPr>
        <p:txBody>
          <a:bodyPr wrap="square" lIns="0" tIns="0" rIns="0" bIns="0" rtlCol="0" anchor="t"/>
          <a:lstStyle/>
          <a:p>
            <a:pPr marL="0" indent="0" algn="l">
              <a:buNone/>
            </a:pPr>
            <a:r>
              <a:rPr lang="en-US" sz="2800" b="1" dirty="0">
                <a:solidFill>
                  <a:schemeClr val="tx1"/>
                </a:solidFill>
                <a:latin typeface="Cambria" panose="02040503050406030204" pitchFamily="34" charset="0"/>
                <a:ea typeface="Cambria" panose="02040503050406030204" pitchFamily="34" charset="-122"/>
                <a:cs typeface="Cambria" panose="02040503050406030204" pitchFamily="34" charset="-120"/>
              </a:rPr>
              <a:t>Every place warmed; 7 now run above the line</a:t>
            </a:r>
            <a:endParaRPr lang="en-US" sz="2800" dirty="0"/>
          </a:p>
        </p:txBody>
      </p:sp>
      <p:pic>
        <p:nvPicPr>
          <p:cNvPr id="3" name="margin chart" descr="figures/fig2_margins.png"/>
          <p:cNvPicPr>
            <a:picLocks noChangeAspect="1"/>
          </p:cNvPicPr>
          <p:nvPr/>
        </p:nvPicPr>
        <p:blipFill>
          <a:blip r:embed="rId1"/>
          <a:stretch>
            <a:fillRect/>
          </a:stretch>
        </p:blipFill>
        <p:spPr>
          <a:xfrm>
            <a:off x="411480" y="1051560"/>
            <a:ext cx="5349240" cy="3446015"/>
          </a:xfrm>
          <a:prstGeom prst="rect">
            <a:avLst/>
          </a:prstGeom>
        </p:spPr>
      </p:pic>
      <p:sp>
        <p:nvSpPr>
          <p:cNvPr id="4" name="Text 1"/>
          <p:cNvSpPr txBox="1"/>
          <p:nvPr/>
        </p:nvSpPr>
        <p:spPr>
          <a:xfrm>
            <a:off x="6035040" y="1234440"/>
            <a:ext cx="2743200" cy="548640"/>
          </a:xfrm>
          <a:prstGeom prst="rect">
            <a:avLst/>
          </a:prstGeom>
          <a:noFill/>
        </p:spPr>
        <p:txBody>
          <a:bodyPr wrap="square" lIns="0" tIns="0" rIns="0" bIns="0" rtlCol="0" anchor="ctr"/>
          <a:lstStyle/>
          <a:p>
            <a:pPr marL="0" indent="0">
              <a:buNone/>
            </a:pPr>
            <a:r>
              <a:rPr lang="en-US" sz="2600" b="1" dirty="0">
                <a:solidFill>
                  <a:srgbClr val="D9480F"/>
                </a:solidFill>
                <a:latin typeface="Cambria" panose="02040503050406030204" pitchFamily="34" charset="0"/>
                <a:ea typeface="Cambria" panose="02040503050406030204" pitchFamily="34" charset="-122"/>
                <a:cs typeface="Cambria" panose="02040503050406030204" pitchFamily="34" charset="-120"/>
              </a:rPr>
              <a:t>+0.35 to +1.33 °C</a:t>
            </a:r>
            <a:endParaRPr lang="en-US" sz="2600" dirty="0"/>
          </a:p>
        </p:txBody>
      </p:sp>
      <p:sp>
        <p:nvSpPr>
          <p:cNvPr id="5" name="Text 2"/>
          <p:cNvSpPr txBox="1"/>
          <p:nvPr/>
        </p:nvSpPr>
        <p:spPr>
          <a:xfrm>
            <a:off x="6035040" y="1783080"/>
            <a:ext cx="2651760" cy="685800"/>
          </a:xfrm>
          <a:prstGeom prst="rect">
            <a:avLst/>
          </a:prstGeom>
          <a:noFill/>
        </p:spPr>
        <p:txBody>
          <a:bodyPr wrap="square" lIns="0" tIns="0" rIns="0" bIns="0" rtlCol="0" anchor="t"/>
          <a:lstStyle/>
          <a:p>
            <a:pPr marL="0" indent="0">
              <a:buNone/>
            </a:pPr>
            <a:r>
              <a:rPr lang="en-US" sz="1300" dirty="0">
                <a:solidFill>
                  <a:srgbClr val="3A4654"/>
                </a:solidFill>
                <a:latin typeface="Calibri" panose="020F0502020204030204" pitchFamily="34" charset="0"/>
                <a:ea typeface="Calibri" panose="020F0502020204030204" pitchFamily="34" charset="-122"/>
                <a:cs typeface="Calibri" panose="020F0502020204030204" pitchFamily="34" charset="-120"/>
              </a:rPr>
              <a:t>rise in effective temperature in all 18 places; every 95% interval above zero</a:t>
            </a:r>
            <a:endParaRPr lang="en-US" sz="1300" dirty="0"/>
          </a:p>
        </p:txBody>
      </p:sp>
      <p:sp>
        <p:nvSpPr>
          <p:cNvPr id="6" name="Text 3"/>
          <p:cNvSpPr txBox="1"/>
          <p:nvPr/>
        </p:nvSpPr>
        <p:spPr>
          <a:xfrm>
            <a:off x="6035040" y="2606040"/>
            <a:ext cx="2743200" cy="548640"/>
          </a:xfrm>
          <a:prstGeom prst="rect">
            <a:avLst/>
          </a:prstGeom>
          <a:noFill/>
        </p:spPr>
        <p:txBody>
          <a:bodyPr wrap="square" lIns="0" tIns="0" rIns="0" bIns="0" rtlCol="0" anchor="ctr"/>
          <a:lstStyle/>
          <a:p>
            <a:pPr marL="0" indent="0">
              <a:buNone/>
            </a:pPr>
            <a:r>
              <a:rPr lang="en-US" sz="2600" b="1" dirty="0">
                <a:solidFill>
                  <a:srgbClr val="D9480F"/>
                </a:solidFill>
                <a:latin typeface="Cambria" panose="02040503050406030204" pitchFamily="34" charset="0"/>
                <a:ea typeface="Cambria" panose="02040503050406030204" pitchFamily="34" charset="-122"/>
                <a:cs typeface="Cambria" panose="02040503050406030204" pitchFamily="34" charset="-120"/>
              </a:rPr>
              <a:t>7 of 18</a:t>
            </a:r>
            <a:endParaRPr lang="en-US" sz="2600" dirty="0"/>
          </a:p>
        </p:txBody>
      </p:sp>
      <p:sp>
        <p:nvSpPr>
          <p:cNvPr id="7" name="Text 4"/>
          <p:cNvSpPr txBox="1"/>
          <p:nvPr/>
        </p:nvSpPr>
        <p:spPr>
          <a:xfrm>
            <a:off x="6035040" y="3154680"/>
            <a:ext cx="2651760" cy="685800"/>
          </a:xfrm>
          <a:prstGeom prst="rect">
            <a:avLst/>
          </a:prstGeom>
          <a:noFill/>
        </p:spPr>
        <p:txBody>
          <a:bodyPr wrap="square" lIns="0" tIns="0" rIns="0" bIns="0" rtlCol="0" anchor="t"/>
          <a:lstStyle/>
          <a:p>
            <a:pPr marL="0" indent="0">
              <a:buNone/>
            </a:pPr>
            <a:r>
              <a:rPr lang="en-US" sz="1300" dirty="0">
                <a:solidFill>
                  <a:srgbClr val="3A4654"/>
                </a:solidFill>
                <a:latin typeface="Calibri" panose="020F0502020204030204" pitchFamily="34" charset="0"/>
                <a:ea typeface="Calibri" panose="020F0502020204030204" pitchFamily="34" charset="-122"/>
                <a:cs typeface="Calibri" panose="020F0502020204030204" pitchFamily="34" charset="-120"/>
              </a:rPr>
              <a:t>now average above the test temperature their medicines are approved at</a:t>
            </a:r>
            <a:endParaRPr lang="en-US" sz="1300" dirty="0"/>
          </a:p>
        </p:txBody>
      </p:sp>
      <p:sp>
        <p:nvSpPr>
          <p:cNvPr id="8" name="Text 5"/>
          <p:cNvSpPr txBox="1"/>
          <p:nvPr/>
        </p:nvSpPr>
        <p:spPr>
          <a:xfrm>
            <a:off x="6035040" y="4206240"/>
            <a:ext cx="2651760" cy="274320"/>
          </a:xfrm>
          <a:prstGeom prst="rect">
            <a:avLst/>
          </a:prstGeom>
          <a:noFill/>
        </p:spPr>
        <p:txBody>
          <a:bodyPr wrap="square" lIns="0" tIns="0" rIns="0" bIns="0" rtlCol="0" anchor="ctr"/>
          <a:lstStyle/>
          <a:p>
            <a:pPr marL="0" indent="0">
              <a:buNone/>
            </a:pPr>
            <a:r>
              <a:rPr lang="en-US" sz="1000" dirty="0">
                <a:solidFill>
                  <a:srgbClr val="5B6672"/>
                </a:solidFill>
                <a:latin typeface="Calibri" panose="020F0502020204030204" pitchFamily="34" charset="0"/>
                <a:ea typeface="Calibri" panose="020F0502020204030204" pitchFamily="34" charset="-122"/>
                <a:cs typeface="Calibri" panose="020F0502020204030204" pitchFamily="34" charset="-120"/>
              </a:rPr>
              <a:t>* weather station · values bias-corrected</a:t>
            </a:r>
            <a:endParaRPr lang="en-US" sz="1000" dirty="0"/>
          </a:p>
        </p:txBody>
      </p:sp>
      <p:sp>
        <p:nvSpPr>
          <p:cNvPr id="25" name="Slide Number Placeholder 0"/>
          <p:cNvSpPr>
            <a:spLocks noGrp="1"/>
          </p:cNvSpPr>
          <p:nvPr>
            <p:ph type="sldNum" sz="quarter" idx="4294967295"/>
          </p:nvPr>
        </p:nvSpPr>
        <p:spPr>
          <a:xfrm>
            <a:off x="8321040" y="4754880"/>
            <a:ext cx="365760" cy="228600"/>
          </a:xfrm>
          <a:prstGeom prst="rect">
            <a:avLst/>
          </a:prstGeom>
        </p:spPr>
        <p:txBody>
          <a:bodyPr/>
          <a:lstStyle>
            <a:lvl1pPr>
              <a:defRPr sz="900">
                <a:solidFill>
                  <a:srgbClr val="5B6672"/>
                </a:solidFill>
              </a:defRPr>
            </a:lvl1pPr>
          </a:lstStyle>
          <a:p>
            <a:pPr algn="r"/>
            <a:fld id="{F7021451-1387-4CA6-816F-3879F97B5CBC}" type="slidenum">
              <a:rPr lang="en-US" b="0"/>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ph type="title" idx="100" hasCustomPrompt="1"/>
          </p:nvPr>
        </p:nvSpPr>
        <p:spPr>
          <a:xfrm>
            <a:off x="457200" y="274320"/>
            <a:ext cx="8229600" cy="731520"/>
          </a:xfrm>
          <a:prstGeom prst="rect">
            <a:avLst/>
          </a:prstGeom>
          <a:noFill/>
        </p:spPr>
        <p:txBody>
          <a:bodyPr wrap="square" lIns="0" tIns="0" rIns="0" bIns="0" rtlCol="0" anchor="t"/>
          <a:lstStyle/>
          <a:p>
            <a:pPr marL="0" indent="0" algn="l">
              <a:buNone/>
            </a:pPr>
            <a:r>
              <a:rPr lang="en-US" sz="2800" b="1" dirty="0">
                <a:solidFill>
                  <a:schemeClr val="tx1"/>
                </a:solidFill>
                <a:latin typeface="Cambria" panose="02040503050406030204" pitchFamily="34" charset="0"/>
                <a:ea typeface="Cambria" panose="02040503050406030204" pitchFamily="34" charset="-122"/>
                <a:cs typeface="Cambria" panose="02040503050406030204" pitchFamily="34" charset="-120"/>
              </a:rPr>
              <a:t>Inside the US, two cities crossed the 25 °C line</a:t>
            </a:r>
            <a:endParaRPr lang="en-US" sz="2800" dirty="0"/>
          </a:p>
        </p:txBody>
      </p:sp>
      <p:sp>
        <p:nvSpPr>
          <p:cNvPr id="3" name="city Houston"/>
          <p:cNvSpPr/>
          <p:nvPr/>
        </p:nvSpPr>
        <p:spPr>
          <a:xfrm>
            <a:off x="457200" y="1188720"/>
            <a:ext cx="2606040" cy="2286000"/>
          </a:xfrm>
          <a:prstGeom prst="roundRect">
            <a:avLst>
              <a:gd name="adj" fmla="val 4000"/>
            </a:avLst>
          </a:prstGeom>
          <a:solidFill>
            <a:srgbClr val="FBE7DE"/>
          </a:solidFill>
          <a:ln w="12700">
            <a:solidFill>
              <a:srgbClr val="FBE7DE"/>
            </a:solidFill>
            <a:prstDash val="solid"/>
          </a:ln>
        </p:spPr>
      </p:sp>
      <p:sp>
        <p:nvSpPr>
          <p:cNvPr id="4" name="Text 2"/>
          <p:cNvSpPr txBox="1"/>
          <p:nvPr/>
        </p:nvSpPr>
        <p:spPr>
          <a:xfrm>
            <a:off x="640080" y="1325880"/>
            <a:ext cx="2286000" cy="411480"/>
          </a:xfrm>
          <a:prstGeom prst="rect">
            <a:avLst/>
          </a:prstGeom>
          <a:noFill/>
        </p:spPr>
        <p:txBody>
          <a:bodyPr wrap="square" lIns="0" tIns="0" rIns="0" bIns="0" rtlCol="0" anchor="ctr"/>
          <a:lstStyle/>
          <a:p>
            <a:pPr marL="0" indent="0">
              <a:buNone/>
            </a:pPr>
            <a:r>
              <a:rPr lang="en-US" sz="1800" b="1" dirty="0">
                <a:solidFill>
                  <a:srgbClr val="1D2633"/>
                </a:solidFill>
                <a:latin typeface="Cambria" panose="02040503050406030204" pitchFamily="34" charset="0"/>
                <a:ea typeface="Cambria" panose="02040503050406030204" pitchFamily="34" charset="-122"/>
                <a:cs typeface="Cambria" panose="02040503050406030204" pitchFamily="34" charset="-120"/>
              </a:rPr>
              <a:t>Houston</a:t>
            </a:r>
            <a:endParaRPr lang="en-US" sz="1800" dirty="0"/>
          </a:p>
        </p:txBody>
      </p:sp>
      <p:sp>
        <p:nvSpPr>
          <p:cNvPr id="5" name="Text 3"/>
          <p:cNvSpPr txBox="1"/>
          <p:nvPr/>
        </p:nvSpPr>
        <p:spPr>
          <a:xfrm>
            <a:off x="640080" y="1783080"/>
            <a:ext cx="2286000" cy="594360"/>
          </a:xfrm>
          <a:prstGeom prst="rect">
            <a:avLst/>
          </a:prstGeom>
          <a:noFill/>
        </p:spPr>
        <p:txBody>
          <a:bodyPr wrap="square" lIns="0" tIns="0" rIns="0" bIns="0" rtlCol="0" anchor="ctr"/>
          <a:lstStyle/>
          <a:p>
            <a:pPr marL="0" indent="0">
              <a:buNone/>
            </a:pPr>
            <a:r>
              <a:rPr lang="en-US" sz="2400" b="1" dirty="0">
                <a:solidFill>
                  <a:srgbClr val="D9480F"/>
                </a:solidFill>
                <a:latin typeface="Calibri" panose="020F0502020204030204" pitchFamily="34" charset="0"/>
                <a:ea typeface="Calibri" panose="020F0502020204030204" pitchFamily="34" charset="-122"/>
                <a:cs typeface="Calibri" panose="020F0502020204030204" pitchFamily="34" charset="-120"/>
              </a:rPr>
              <a:t>24.68 → 25.41 °C</a:t>
            </a:r>
            <a:endParaRPr lang="en-US" sz="2400" dirty="0"/>
          </a:p>
        </p:txBody>
      </p:sp>
      <p:sp>
        <p:nvSpPr>
          <p:cNvPr id="6" name="Text 4"/>
          <p:cNvSpPr txBox="1"/>
          <p:nvPr/>
        </p:nvSpPr>
        <p:spPr>
          <a:xfrm>
            <a:off x="640080" y="2468880"/>
            <a:ext cx="2286000" cy="868680"/>
          </a:xfrm>
          <a:prstGeom prst="rect">
            <a:avLst/>
          </a:prstGeom>
          <a:noFill/>
        </p:spPr>
        <p:txBody>
          <a:bodyPr wrap="square" lIns="0" tIns="0" rIns="0" bIns="0" rtlCol="0" anchor="t"/>
          <a:lstStyle/>
          <a:p>
            <a:pPr marL="0" indent="0">
              <a:buNone/>
            </a:pPr>
            <a:r>
              <a:rPr lang="en-US" sz="1300" dirty="0">
                <a:solidFill>
                  <a:srgbClr val="3A4654"/>
                </a:solidFill>
                <a:latin typeface="Calibri" panose="020F0502020204030204" pitchFamily="34" charset="0"/>
                <a:ea typeface="Calibri" panose="020F0502020204030204" pitchFamily="34" charset="-122"/>
                <a:cs typeface="Calibri" panose="020F0502020204030204" pitchFamily="34" charset="-120"/>
              </a:rPr>
              <a:t>5 → 16 of 20 years above 25 °C</a:t>
            </a:r>
            <a:endParaRPr lang="en-US" sz="1300" dirty="0"/>
          </a:p>
        </p:txBody>
      </p:sp>
      <p:sp>
        <p:nvSpPr>
          <p:cNvPr id="7" name="city Tampa"/>
          <p:cNvSpPr/>
          <p:nvPr/>
        </p:nvSpPr>
        <p:spPr>
          <a:xfrm>
            <a:off x="3246120" y="1188720"/>
            <a:ext cx="2606040" cy="2286000"/>
          </a:xfrm>
          <a:prstGeom prst="roundRect">
            <a:avLst>
              <a:gd name="adj" fmla="val 4000"/>
            </a:avLst>
          </a:prstGeom>
          <a:solidFill>
            <a:srgbClr val="FBE7DE"/>
          </a:solidFill>
          <a:ln w="12700">
            <a:solidFill>
              <a:srgbClr val="FBE7DE"/>
            </a:solidFill>
            <a:prstDash val="solid"/>
          </a:ln>
        </p:spPr>
      </p:sp>
      <p:sp>
        <p:nvSpPr>
          <p:cNvPr id="8" name="Text 6"/>
          <p:cNvSpPr txBox="1"/>
          <p:nvPr/>
        </p:nvSpPr>
        <p:spPr>
          <a:xfrm>
            <a:off x="3429000" y="1325880"/>
            <a:ext cx="2286000" cy="411480"/>
          </a:xfrm>
          <a:prstGeom prst="rect">
            <a:avLst/>
          </a:prstGeom>
          <a:noFill/>
        </p:spPr>
        <p:txBody>
          <a:bodyPr wrap="square" lIns="0" tIns="0" rIns="0" bIns="0" rtlCol="0" anchor="ctr"/>
          <a:lstStyle/>
          <a:p>
            <a:pPr marL="0" indent="0">
              <a:buNone/>
            </a:pPr>
            <a:r>
              <a:rPr lang="en-US" sz="1800" b="1" dirty="0">
                <a:solidFill>
                  <a:srgbClr val="1D2633"/>
                </a:solidFill>
                <a:latin typeface="Cambria" panose="02040503050406030204" pitchFamily="34" charset="0"/>
                <a:ea typeface="Cambria" panose="02040503050406030204" pitchFamily="34" charset="-122"/>
                <a:cs typeface="Cambria" panose="02040503050406030204" pitchFamily="34" charset="-120"/>
              </a:rPr>
              <a:t>Tampa</a:t>
            </a:r>
            <a:endParaRPr lang="en-US" sz="1800" dirty="0"/>
          </a:p>
        </p:txBody>
      </p:sp>
      <p:sp>
        <p:nvSpPr>
          <p:cNvPr id="9" name="Text 7"/>
          <p:cNvSpPr txBox="1"/>
          <p:nvPr/>
        </p:nvSpPr>
        <p:spPr>
          <a:xfrm>
            <a:off x="3429000" y="1783080"/>
            <a:ext cx="2286000" cy="594360"/>
          </a:xfrm>
          <a:prstGeom prst="rect">
            <a:avLst/>
          </a:prstGeom>
          <a:noFill/>
        </p:spPr>
        <p:txBody>
          <a:bodyPr wrap="square" lIns="0" tIns="0" rIns="0" bIns="0" rtlCol="0" anchor="ctr"/>
          <a:lstStyle/>
          <a:p>
            <a:pPr marL="0" indent="0">
              <a:buNone/>
            </a:pPr>
            <a:r>
              <a:rPr lang="en-US" sz="2400" b="1" dirty="0">
                <a:solidFill>
                  <a:srgbClr val="D9480F"/>
                </a:solidFill>
                <a:latin typeface="Calibri" panose="020F0502020204030204" pitchFamily="34" charset="0"/>
                <a:ea typeface="Calibri" panose="020F0502020204030204" pitchFamily="34" charset="-122"/>
                <a:cs typeface="Calibri" panose="020F0502020204030204" pitchFamily="34" charset="-120"/>
              </a:rPr>
              <a:t>24.96 → 25.67 °C</a:t>
            </a:r>
            <a:endParaRPr lang="en-US" sz="2400" dirty="0"/>
          </a:p>
        </p:txBody>
      </p:sp>
      <p:sp>
        <p:nvSpPr>
          <p:cNvPr id="10" name="Text 8"/>
          <p:cNvSpPr txBox="1"/>
          <p:nvPr/>
        </p:nvSpPr>
        <p:spPr>
          <a:xfrm>
            <a:off x="3429000" y="2468880"/>
            <a:ext cx="2286000" cy="868680"/>
          </a:xfrm>
          <a:prstGeom prst="rect">
            <a:avLst/>
          </a:prstGeom>
          <a:noFill/>
        </p:spPr>
        <p:txBody>
          <a:bodyPr wrap="square" lIns="0" tIns="0" rIns="0" bIns="0" rtlCol="0" anchor="t"/>
          <a:lstStyle/>
          <a:p>
            <a:pPr marL="0" indent="0">
              <a:buNone/>
            </a:pPr>
            <a:r>
              <a:rPr lang="en-US" sz="1300" dirty="0">
                <a:solidFill>
                  <a:srgbClr val="3A4654"/>
                </a:solidFill>
                <a:latin typeface="Calibri" panose="020F0502020204030204" pitchFamily="34" charset="0"/>
                <a:ea typeface="Calibri" panose="020F0502020204030204" pitchFamily="34" charset="-122"/>
                <a:cs typeface="Calibri" panose="020F0502020204030204" pitchFamily="34" charset="-120"/>
              </a:rPr>
              <a:t>9 → 18 of 20 years above 25 °C</a:t>
            </a:r>
            <a:endParaRPr lang="en-US" sz="1300" dirty="0"/>
          </a:p>
        </p:txBody>
      </p:sp>
      <p:sp>
        <p:nvSpPr>
          <p:cNvPr id="11" name="city New Orleans"/>
          <p:cNvSpPr/>
          <p:nvPr/>
        </p:nvSpPr>
        <p:spPr>
          <a:xfrm>
            <a:off x="6035040" y="1188720"/>
            <a:ext cx="2606040" cy="2286000"/>
          </a:xfrm>
          <a:prstGeom prst="roundRect">
            <a:avLst>
              <a:gd name="adj" fmla="val 4000"/>
            </a:avLst>
          </a:prstGeom>
          <a:solidFill>
            <a:srgbClr val="F2F4F6"/>
          </a:solidFill>
          <a:ln w="12700">
            <a:solidFill>
              <a:srgbClr val="F2F4F6"/>
            </a:solidFill>
            <a:prstDash val="solid"/>
          </a:ln>
        </p:spPr>
      </p:sp>
      <p:sp>
        <p:nvSpPr>
          <p:cNvPr id="12" name="Text 10"/>
          <p:cNvSpPr txBox="1"/>
          <p:nvPr/>
        </p:nvSpPr>
        <p:spPr>
          <a:xfrm>
            <a:off x="6217920" y="1325880"/>
            <a:ext cx="2286000" cy="411480"/>
          </a:xfrm>
          <a:prstGeom prst="rect">
            <a:avLst/>
          </a:prstGeom>
          <a:noFill/>
        </p:spPr>
        <p:txBody>
          <a:bodyPr wrap="square" lIns="0" tIns="0" rIns="0" bIns="0" rtlCol="0" anchor="ctr"/>
          <a:lstStyle/>
          <a:p>
            <a:pPr marL="0" indent="0">
              <a:buNone/>
            </a:pPr>
            <a:r>
              <a:rPr lang="en-US" sz="1800" b="1" dirty="0">
                <a:solidFill>
                  <a:srgbClr val="1D2633"/>
                </a:solidFill>
                <a:latin typeface="Cambria" panose="02040503050406030204" pitchFamily="34" charset="0"/>
                <a:ea typeface="Cambria" panose="02040503050406030204" pitchFamily="34" charset="-122"/>
                <a:cs typeface="Cambria" panose="02040503050406030204" pitchFamily="34" charset="-120"/>
              </a:rPr>
              <a:t>New Orleans</a:t>
            </a:r>
            <a:endParaRPr lang="en-US" sz="1800" dirty="0"/>
          </a:p>
        </p:txBody>
      </p:sp>
      <p:sp>
        <p:nvSpPr>
          <p:cNvPr id="13" name="Text 11"/>
          <p:cNvSpPr txBox="1"/>
          <p:nvPr/>
        </p:nvSpPr>
        <p:spPr>
          <a:xfrm>
            <a:off x="6217920" y="1783080"/>
            <a:ext cx="2286000" cy="594360"/>
          </a:xfrm>
          <a:prstGeom prst="rect">
            <a:avLst/>
          </a:prstGeom>
          <a:noFill/>
        </p:spPr>
        <p:txBody>
          <a:bodyPr wrap="square" lIns="0" tIns="0" rIns="0" bIns="0" rtlCol="0" anchor="ctr"/>
          <a:lstStyle/>
          <a:p>
            <a:pPr marL="0" indent="0">
              <a:buNone/>
            </a:pPr>
            <a:r>
              <a:rPr lang="en-US" sz="2400" b="1" dirty="0">
                <a:solidFill>
                  <a:srgbClr val="1D2633"/>
                </a:solidFill>
                <a:latin typeface="Calibri" panose="020F0502020204030204" pitchFamily="34" charset="0"/>
                <a:ea typeface="Calibri" panose="020F0502020204030204" pitchFamily="34" charset="-122"/>
                <a:cs typeface="Calibri" panose="020F0502020204030204" pitchFamily="34" charset="-120"/>
              </a:rPr>
              <a:t>24.92 °C</a:t>
            </a:r>
            <a:endParaRPr lang="en-US" sz="2400" dirty="0"/>
          </a:p>
        </p:txBody>
      </p:sp>
      <p:sp>
        <p:nvSpPr>
          <p:cNvPr id="14" name="Text 12"/>
          <p:cNvSpPr txBox="1"/>
          <p:nvPr/>
        </p:nvSpPr>
        <p:spPr>
          <a:xfrm>
            <a:off x="6217920" y="2468880"/>
            <a:ext cx="2286000" cy="868680"/>
          </a:xfrm>
          <a:prstGeom prst="rect">
            <a:avLst/>
          </a:prstGeom>
          <a:noFill/>
        </p:spPr>
        <p:txBody>
          <a:bodyPr wrap="square" lIns="0" tIns="0" rIns="0" bIns="0" rtlCol="0" anchor="t"/>
          <a:lstStyle/>
          <a:p>
            <a:pPr marL="0" indent="0">
              <a:buNone/>
            </a:pPr>
            <a:r>
              <a:rPr lang="en-US" sz="1300" dirty="0">
                <a:solidFill>
                  <a:srgbClr val="3A4654"/>
                </a:solidFill>
                <a:latin typeface="Calibri" panose="020F0502020204030204" pitchFamily="34" charset="0"/>
                <a:ea typeface="Calibri" panose="020F0502020204030204" pitchFamily="34" charset="-122"/>
                <a:cs typeface="Calibri" panose="020F0502020204030204" pitchFamily="34" charset="-120"/>
              </a:rPr>
              <a:t>on the line: above in 9 of the last 20 years, none before</a:t>
            </a:r>
            <a:endParaRPr lang="en-US" sz="1300" dirty="0"/>
          </a:p>
        </p:txBody>
      </p:sp>
      <p:sp>
        <p:nvSpPr>
          <p:cNvPr id="15" name="Text 13"/>
          <p:cNvSpPr txBox="1"/>
          <p:nvPr/>
        </p:nvSpPr>
        <p:spPr>
          <a:xfrm>
            <a:off x="457200" y="3703320"/>
            <a:ext cx="8229600" cy="731520"/>
          </a:xfrm>
          <a:prstGeom prst="rect">
            <a:avLst/>
          </a:prstGeom>
          <a:noFill/>
        </p:spPr>
        <p:txBody>
          <a:bodyPr wrap="square" lIns="0" tIns="0" rIns="0" bIns="0" rtlCol="0" anchor="t"/>
          <a:lstStyle/>
          <a:p>
            <a:pPr marL="0" indent="0">
              <a:buNone/>
            </a:pPr>
            <a:r>
              <a:rPr lang="en-US" sz="1250" dirty="0">
                <a:solidFill>
                  <a:srgbClr val="3A4654"/>
                </a:solidFill>
                <a:latin typeface="Calibri" panose="020F0502020204030204" pitchFamily="34" charset="0"/>
                <a:ea typeface="Calibri" panose="020F0502020204030204" pitchFamily="34" charset="-122"/>
                <a:cs typeface="Calibri" panose="020F0502020204030204" pitchFamily="34" charset="-120"/>
              </a:rPr>
              <a:t>The US is an ICH region: its medicines are tested at 25 °C. Effective (mean kinetic) temperature, airport weather stations, 1981–2000 vs 2006–2025, bias-corrected. These stations were deliberately chosen among the warmest US cities.</a:t>
            </a:r>
            <a:endParaRPr lang="en-US" sz="1250" dirty="0"/>
          </a:p>
        </p:txBody>
      </p:sp>
      <p:sp>
        <p:nvSpPr>
          <p:cNvPr id="25" name="Slide Number Placeholder 0"/>
          <p:cNvSpPr>
            <a:spLocks noGrp="1"/>
          </p:cNvSpPr>
          <p:nvPr>
            <p:ph type="sldNum" sz="quarter" idx="4294967295"/>
          </p:nvPr>
        </p:nvSpPr>
        <p:spPr>
          <a:xfrm>
            <a:off x="8321040" y="4754880"/>
            <a:ext cx="365760" cy="228600"/>
          </a:xfrm>
          <a:prstGeom prst="rect">
            <a:avLst/>
          </a:prstGeom>
        </p:spPr>
        <p:txBody>
          <a:bodyPr/>
          <a:lstStyle>
            <a:lvl1pPr>
              <a:defRPr sz="900">
                <a:solidFill>
                  <a:srgbClr val="5B6672"/>
                </a:solidFill>
              </a:defRPr>
            </a:lvl1pPr>
          </a:lstStyle>
          <a:p>
            <a:pPr algn="r"/>
            <a:fld id="{F7021451-1387-4CA6-816F-3879F97B5CBC}" type="slidenum">
              <a:rPr lang="en-US" b="0"/>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ph type="title" idx="100" hasCustomPrompt="1"/>
          </p:nvPr>
        </p:nvSpPr>
        <p:spPr>
          <a:xfrm>
            <a:off x="457200" y="274320"/>
            <a:ext cx="8229600" cy="731520"/>
          </a:xfrm>
          <a:prstGeom prst="rect">
            <a:avLst/>
          </a:prstGeom>
          <a:noFill/>
        </p:spPr>
        <p:txBody>
          <a:bodyPr wrap="square" lIns="0" tIns="0" rIns="0" bIns="0" rtlCol="0" anchor="t"/>
          <a:lstStyle/>
          <a:p>
            <a:pPr marL="0" indent="0" algn="l">
              <a:buNone/>
            </a:pPr>
            <a:r>
              <a:rPr lang="en-US" sz="2800" b="1" dirty="0">
                <a:solidFill>
                  <a:schemeClr val="tx1"/>
                </a:solidFill>
                <a:latin typeface="Cambria" panose="02040503050406030204" pitchFamily="34" charset="0"/>
                <a:ea typeface="Cambria" panose="02040503050406030204" pitchFamily="34" charset="-122"/>
                <a:cs typeface="Cambria" panose="02040503050406030204" pitchFamily="34" charset="-120"/>
              </a:rPr>
              <a:t>Humid coasts already exceed the 65% chamber</a:t>
            </a:r>
            <a:endParaRPr lang="en-US" sz="2800" dirty="0"/>
          </a:p>
        </p:txBody>
      </p:sp>
      <p:pic>
        <p:nvPicPr>
          <p:cNvPr id="3" name="humidity chart" descr="figures/fig3_humidity.png"/>
          <p:cNvPicPr>
            <a:picLocks noChangeAspect="1"/>
          </p:cNvPicPr>
          <p:nvPr/>
        </p:nvPicPr>
        <p:blipFill>
          <a:blip r:embed="rId1"/>
          <a:stretch>
            <a:fillRect/>
          </a:stretch>
        </p:blipFill>
        <p:spPr>
          <a:xfrm>
            <a:off x="411480" y="1097280"/>
            <a:ext cx="5577840" cy="3133163"/>
          </a:xfrm>
          <a:prstGeom prst="rect">
            <a:avLst/>
          </a:prstGeom>
        </p:spPr>
      </p:pic>
      <p:sp>
        <p:nvSpPr>
          <p:cNvPr id="4" name="Text 1"/>
          <p:cNvSpPr txBox="1"/>
          <p:nvPr/>
        </p:nvSpPr>
        <p:spPr>
          <a:xfrm>
            <a:off x="6217920" y="1234440"/>
            <a:ext cx="2468880" cy="3108960"/>
          </a:xfrm>
          <a:prstGeom prst="rect">
            <a:avLst/>
          </a:prstGeom>
          <a:noFill/>
        </p:spPr>
        <p:txBody>
          <a:bodyPr wrap="square" lIns="0" tIns="0" rIns="0" bIns="0" rtlCol="0" anchor="t"/>
          <a:lstStyle/>
          <a:p>
            <a:pPr marL="0" indent="0">
              <a:buNone/>
            </a:pPr>
            <a:r>
              <a:rPr lang="en-US" sz="1400" b="1" dirty="0">
                <a:solidFill>
                  <a:srgbClr val="1D2633"/>
                </a:solidFill>
                <a:latin typeface="Calibri" panose="020F0502020204030204" pitchFamily="34" charset="0"/>
                <a:ea typeface="Calibri" panose="020F0502020204030204" pitchFamily="34" charset="-122"/>
                <a:cs typeface="Calibri" panose="020F0502020204030204" pitchFamily="34" charset="-120"/>
              </a:rPr>
              <a:t>Chennai, Colombo and Yangon</a:t>
            </a:r>
            <a:endParaRPr lang="en-US" sz="1400" dirty="0"/>
          </a:p>
          <a:p>
            <a:pPr marL="0" indent="0">
              <a:spcAft>
                <a:spcPts val="1200"/>
              </a:spcAft>
              <a:buNone/>
            </a:pPr>
            <a:r>
              <a:rPr lang="en-US" sz="1400" dirty="0">
                <a:solidFill>
                  <a:srgbClr val="1D2633"/>
                </a:solidFill>
                <a:latin typeface="Calibri" panose="020F0502020204030204" pitchFamily="34" charset="0"/>
                <a:ea typeface="Calibri" panose="020F0502020204030204" pitchFamily="34" charset="-122"/>
                <a:cs typeface="Calibri" panose="020F0502020204030204" pitchFamily="34" charset="-120"/>
              </a:rPr>
              <a:t>already hold more water vapour than the 30 °C / 65% test chamber.</a:t>
            </a:r>
            <a:endParaRPr lang="en-US" sz="1400" dirty="0"/>
          </a:p>
          <a:p>
            <a:pPr marL="0" indent="0">
              <a:spcAft>
                <a:spcPts val="1200"/>
              </a:spcAft>
              <a:buNone/>
            </a:pPr>
            <a:r>
              <a:rPr lang="en-US" sz="1400" b="1" dirty="0">
                <a:solidFill>
                  <a:srgbClr val="1D2633"/>
                </a:solidFill>
                <a:latin typeface="Calibri" panose="020F0502020204030204" pitchFamily="34" charset="0"/>
                <a:ea typeface="Calibri" panose="020F0502020204030204" pitchFamily="34" charset="-122"/>
                <a:cs typeface="Calibri" panose="020F0502020204030204" pitchFamily="34" charset="-120"/>
              </a:rPr>
              <a:t>Colombo</a:t>
            </a:r>
            <a:r>
              <a:rPr lang="en-US" sz="1400" dirty="0">
                <a:solidFill>
                  <a:srgbClr val="1D2633"/>
                </a:solidFill>
                <a:latin typeface="Calibri" panose="020F0502020204030204" pitchFamily="34" charset="0"/>
                <a:ea typeface="Calibri" panose="020F0502020204030204" pitchFamily="34" charset="-122"/>
                <a:cs typeface="Calibri" panose="020F0502020204030204" pitchFamily="34" charset="-120"/>
              </a:rPr>
              <a:t> also exceeds 30 °C / 70%.</a:t>
            </a:r>
            <a:endParaRPr lang="en-US" sz="1400" dirty="0"/>
          </a:p>
          <a:p>
            <a:pPr marL="0" indent="0">
              <a:buNone/>
            </a:pPr>
            <a:r>
              <a:rPr lang="en-US" sz="1400" dirty="0">
                <a:solidFill>
                  <a:srgbClr val="3A4654"/>
                </a:solidFill>
                <a:latin typeface="Calibri" panose="020F0502020204030204" pitchFamily="34" charset="0"/>
                <a:ea typeface="Calibri" panose="020F0502020204030204" pitchFamily="34" charset="-122"/>
                <a:cs typeface="Calibri" panose="020F0502020204030204" pitchFamily="34" charset="-120"/>
              </a:rPr>
              <a:t>None yet reaches 30 °C / 75% — the reason WHO created that condition, now measured with current data.</a:t>
            </a:r>
            <a:endParaRPr lang="en-US" sz="1400" dirty="0"/>
          </a:p>
        </p:txBody>
      </p:sp>
      <p:sp>
        <p:nvSpPr>
          <p:cNvPr id="25" name="Slide Number Placeholder 0"/>
          <p:cNvSpPr>
            <a:spLocks noGrp="1"/>
          </p:cNvSpPr>
          <p:nvPr>
            <p:ph type="sldNum" sz="quarter" idx="4294967295"/>
          </p:nvPr>
        </p:nvSpPr>
        <p:spPr>
          <a:xfrm>
            <a:off x="8321040" y="4754880"/>
            <a:ext cx="365760" cy="228600"/>
          </a:xfrm>
          <a:prstGeom prst="rect">
            <a:avLst/>
          </a:prstGeom>
        </p:spPr>
        <p:txBody>
          <a:bodyPr/>
          <a:lstStyle>
            <a:lvl1pPr>
              <a:defRPr sz="900">
                <a:solidFill>
                  <a:srgbClr val="5B6672"/>
                </a:solidFill>
              </a:defRPr>
            </a:lvl1pPr>
          </a:lstStyle>
          <a:p>
            <a:pPr algn="r"/>
            <a:fld id="{F7021451-1387-4CA6-816F-3879F97B5CBC}" type="slidenum">
              <a:rPr lang="en-US" b="0"/>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ph type="title" idx="100" hasCustomPrompt="1"/>
          </p:nvPr>
        </p:nvSpPr>
        <p:spPr>
          <a:xfrm>
            <a:off x="457200" y="274320"/>
            <a:ext cx="8229600" cy="731520"/>
          </a:xfrm>
          <a:prstGeom prst="rect">
            <a:avLst/>
          </a:prstGeom>
          <a:noFill/>
        </p:spPr>
        <p:txBody>
          <a:bodyPr wrap="square" lIns="0" tIns="0" rIns="0" bIns="0" rtlCol="0" anchor="t"/>
          <a:lstStyle/>
          <a:p>
            <a:pPr marL="0" indent="0" algn="l">
              <a:buNone/>
            </a:pPr>
            <a:r>
              <a:rPr lang="en-US" sz="2800" b="1" dirty="0">
                <a:solidFill>
                  <a:schemeClr val="tx1"/>
                </a:solidFill>
                <a:latin typeface="Cambria" panose="02040503050406030204" pitchFamily="34" charset="0"/>
                <a:ea typeface="Cambria" panose="02040503050406030204" pitchFamily="34" charset="-122"/>
                <a:cs typeface="Cambria" panose="02040503050406030204" pitchFamily="34" charset="-120"/>
              </a:rPr>
              <a:t>Why it matters: shelf life quietly shrinks</a:t>
            </a:r>
            <a:endParaRPr lang="en-US" sz="2800" dirty="0"/>
          </a:p>
        </p:txBody>
      </p:sp>
      <p:pic>
        <p:nvPicPr>
          <p:cNvPr id="3" name="shelf-life chart" descr="figures/fig4_shelflife.png"/>
          <p:cNvPicPr>
            <a:picLocks noChangeAspect="1"/>
          </p:cNvPicPr>
          <p:nvPr/>
        </p:nvPicPr>
        <p:blipFill>
          <a:blip r:embed="rId1"/>
          <a:stretch>
            <a:fillRect/>
          </a:stretch>
        </p:blipFill>
        <p:spPr>
          <a:xfrm>
            <a:off x="411480" y="1097280"/>
            <a:ext cx="4937760" cy="3159424"/>
          </a:xfrm>
          <a:prstGeom prst="rect">
            <a:avLst/>
          </a:prstGeom>
        </p:spPr>
      </p:pic>
      <p:sp>
        <p:nvSpPr>
          <p:cNvPr id="4" name="Text 1"/>
          <p:cNvSpPr txBox="1"/>
          <p:nvPr/>
        </p:nvSpPr>
        <p:spPr>
          <a:xfrm>
            <a:off x="5623560" y="1188720"/>
            <a:ext cx="3108960" cy="365760"/>
          </a:xfrm>
          <a:prstGeom prst="rect">
            <a:avLst/>
          </a:prstGeom>
          <a:noFill/>
        </p:spPr>
        <p:txBody>
          <a:bodyPr wrap="square" lIns="0" tIns="0" rIns="0" bIns="0" rtlCol="0" anchor="ctr"/>
          <a:lstStyle/>
          <a:p>
            <a:pPr marL="0" indent="0">
              <a:buNone/>
            </a:pPr>
            <a:r>
              <a:rPr lang="en-US" sz="1400" b="1" dirty="0">
                <a:solidFill>
                  <a:srgbClr val="1D2633"/>
                </a:solidFill>
                <a:latin typeface="Calibri" panose="020F0502020204030204" pitchFamily="34" charset="0"/>
                <a:ea typeface="Calibri" panose="020F0502020204030204" pitchFamily="34" charset="-122"/>
                <a:cs typeface="Calibri" panose="020F0502020204030204" pitchFamily="34" charset="-120"/>
              </a:rPr>
              <a:t>A 24-month label behaves like:</a:t>
            </a:r>
            <a:endParaRPr lang="en-US" sz="1400" dirty="0"/>
          </a:p>
        </p:txBody>
      </p:sp>
      <p:sp>
        <p:nvSpPr>
          <p:cNvPr id="5" name="Text 2"/>
          <p:cNvSpPr txBox="1"/>
          <p:nvPr/>
        </p:nvSpPr>
        <p:spPr>
          <a:xfrm>
            <a:off x="5623560" y="1645920"/>
            <a:ext cx="1737360" cy="502920"/>
          </a:xfrm>
          <a:prstGeom prst="rect">
            <a:avLst/>
          </a:prstGeom>
          <a:noFill/>
        </p:spPr>
        <p:txBody>
          <a:bodyPr wrap="square" lIns="0" tIns="0" rIns="0" bIns="0" rtlCol="0" anchor="ctr"/>
          <a:lstStyle/>
          <a:p>
            <a:pPr marL="0" indent="0">
              <a:buNone/>
            </a:pPr>
            <a:r>
              <a:rPr lang="en-US" sz="2200" b="1" dirty="0">
                <a:solidFill>
                  <a:srgbClr val="D9480F"/>
                </a:solidFill>
                <a:latin typeface="Cambria" panose="02040503050406030204" pitchFamily="34" charset="0"/>
                <a:ea typeface="Cambria" panose="02040503050406030204" pitchFamily="34" charset="-122"/>
                <a:cs typeface="Cambria" panose="02040503050406030204" pitchFamily="34" charset="-120"/>
              </a:rPr>
              <a:t>22.9 months</a:t>
            </a:r>
            <a:endParaRPr lang="en-US" sz="2200" dirty="0"/>
          </a:p>
        </p:txBody>
      </p:sp>
      <p:sp>
        <p:nvSpPr>
          <p:cNvPr id="6" name="Text 3"/>
          <p:cNvSpPr txBox="1"/>
          <p:nvPr/>
        </p:nvSpPr>
        <p:spPr>
          <a:xfrm>
            <a:off x="7360920" y="1645920"/>
            <a:ext cx="1371600" cy="502920"/>
          </a:xfrm>
          <a:prstGeom prst="rect">
            <a:avLst/>
          </a:prstGeom>
          <a:noFill/>
        </p:spPr>
        <p:txBody>
          <a:bodyPr wrap="square" lIns="0" tIns="0" rIns="0" bIns="0" rtlCol="0" anchor="ctr"/>
          <a:lstStyle/>
          <a:p>
            <a:pPr marL="0" indent="0">
              <a:buNone/>
            </a:pPr>
            <a:r>
              <a:rPr lang="en-US" sz="1400" dirty="0">
                <a:solidFill>
                  <a:srgbClr val="1D2633"/>
                </a:solidFill>
                <a:latin typeface="Calibri" panose="020F0502020204030204" pitchFamily="34" charset="0"/>
                <a:ea typeface="Calibri" panose="020F0502020204030204" pitchFamily="34" charset="-122"/>
                <a:cs typeface="Calibri" panose="020F0502020204030204" pitchFamily="34" charset="-120"/>
              </a:rPr>
              <a:t>in Houston</a:t>
            </a:r>
            <a:endParaRPr lang="en-US" sz="1400" dirty="0"/>
          </a:p>
        </p:txBody>
      </p:sp>
      <p:sp>
        <p:nvSpPr>
          <p:cNvPr id="7" name="Text 4"/>
          <p:cNvSpPr txBox="1"/>
          <p:nvPr/>
        </p:nvSpPr>
        <p:spPr>
          <a:xfrm>
            <a:off x="5623560" y="2331720"/>
            <a:ext cx="1737360" cy="502920"/>
          </a:xfrm>
          <a:prstGeom prst="rect">
            <a:avLst/>
          </a:prstGeom>
          <a:noFill/>
        </p:spPr>
        <p:txBody>
          <a:bodyPr wrap="square" lIns="0" tIns="0" rIns="0" bIns="0" rtlCol="0" anchor="ctr"/>
          <a:lstStyle/>
          <a:p>
            <a:pPr marL="0" indent="0">
              <a:buNone/>
            </a:pPr>
            <a:r>
              <a:rPr lang="en-US" sz="2200" b="1" dirty="0">
                <a:solidFill>
                  <a:srgbClr val="D9480F"/>
                </a:solidFill>
                <a:latin typeface="Cambria" panose="02040503050406030204" pitchFamily="34" charset="0"/>
                <a:ea typeface="Cambria" panose="02040503050406030204" pitchFamily="34" charset="-122"/>
                <a:cs typeface="Cambria" panose="02040503050406030204" pitchFamily="34" charset="-120"/>
              </a:rPr>
              <a:t>19.7 months</a:t>
            </a:r>
            <a:endParaRPr lang="en-US" sz="2200" dirty="0"/>
          </a:p>
        </p:txBody>
      </p:sp>
      <p:sp>
        <p:nvSpPr>
          <p:cNvPr id="8" name="Text 5"/>
          <p:cNvSpPr txBox="1"/>
          <p:nvPr/>
        </p:nvSpPr>
        <p:spPr>
          <a:xfrm>
            <a:off x="7360920" y="2331720"/>
            <a:ext cx="1371600" cy="502920"/>
          </a:xfrm>
          <a:prstGeom prst="rect">
            <a:avLst/>
          </a:prstGeom>
          <a:noFill/>
        </p:spPr>
        <p:txBody>
          <a:bodyPr wrap="square" lIns="0" tIns="0" rIns="0" bIns="0" rtlCol="0" anchor="ctr"/>
          <a:lstStyle/>
          <a:p>
            <a:pPr marL="0" indent="0">
              <a:buNone/>
            </a:pPr>
            <a:r>
              <a:rPr lang="en-US" sz="1400" dirty="0">
                <a:solidFill>
                  <a:srgbClr val="1D2633"/>
                </a:solidFill>
                <a:latin typeface="Calibri" panose="020F0502020204030204" pitchFamily="34" charset="0"/>
                <a:ea typeface="Calibri" panose="020F0502020204030204" pitchFamily="34" charset="-122"/>
                <a:cs typeface="Calibri" panose="020F0502020204030204" pitchFamily="34" charset="-120"/>
              </a:rPr>
              <a:t>in Dubai</a:t>
            </a:r>
            <a:endParaRPr lang="en-US" sz="1400" dirty="0"/>
          </a:p>
        </p:txBody>
      </p:sp>
      <p:sp>
        <p:nvSpPr>
          <p:cNvPr id="9" name="Text 6"/>
          <p:cNvSpPr txBox="1"/>
          <p:nvPr/>
        </p:nvSpPr>
        <p:spPr>
          <a:xfrm>
            <a:off x="5623560" y="3017520"/>
            <a:ext cx="1737360" cy="502920"/>
          </a:xfrm>
          <a:prstGeom prst="rect">
            <a:avLst/>
          </a:prstGeom>
          <a:noFill/>
        </p:spPr>
        <p:txBody>
          <a:bodyPr wrap="square" lIns="0" tIns="0" rIns="0" bIns="0" rtlCol="0" anchor="ctr"/>
          <a:lstStyle/>
          <a:p>
            <a:pPr marL="0" indent="0">
              <a:buNone/>
            </a:pPr>
            <a:r>
              <a:rPr lang="en-US" sz="2200" b="1" dirty="0">
                <a:solidFill>
                  <a:srgbClr val="D9480F"/>
                </a:solidFill>
                <a:latin typeface="Cambria" panose="02040503050406030204" pitchFamily="34" charset="0"/>
                <a:ea typeface="Cambria" panose="02040503050406030204" pitchFamily="34" charset="-122"/>
                <a:cs typeface="Cambria" panose="02040503050406030204" pitchFamily="34" charset="-120"/>
              </a:rPr>
              <a:t>14.7 months</a:t>
            </a:r>
            <a:endParaRPr lang="en-US" sz="2200" dirty="0"/>
          </a:p>
        </p:txBody>
      </p:sp>
      <p:sp>
        <p:nvSpPr>
          <p:cNvPr id="10" name="Text 7"/>
          <p:cNvSpPr txBox="1"/>
          <p:nvPr/>
        </p:nvSpPr>
        <p:spPr>
          <a:xfrm>
            <a:off x="7360920" y="3017520"/>
            <a:ext cx="1371600" cy="502920"/>
          </a:xfrm>
          <a:prstGeom prst="rect">
            <a:avLst/>
          </a:prstGeom>
          <a:noFill/>
        </p:spPr>
        <p:txBody>
          <a:bodyPr wrap="square" lIns="0" tIns="0" rIns="0" bIns="0" rtlCol="0" anchor="ctr"/>
          <a:lstStyle/>
          <a:p>
            <a:pPr marL="0" indent="0">
              <a:buNone/>
            </a:pPr>
            <a:r>
              <a:rPr lang="en-US" sz="1400" dirty="0">
                <a:solidFill>
                  <a:srgbClr val="1D2633"/>
                </a:solidFill>
                <a:latin typeface="Calibri" panose="020F0502020204030204" pitchFamily="34" charset="0"/>
                <a:ea typeface="Calibri" panose="020F0502020204030204" pitchFamily="34" charset="-122"/>
                <a:cs typeface="Calibri" panose="020F0502020204030204" pitchFamily="34" charset="-120"/>
              </a:rPr>
              <a:t>in Phoenix</a:t>
            </a:r>
            <a:endParaRPr lang="en-US" sz="1400" dirty="0"/>
          </a:p>
        </p:txBody>
      </p:sp>
      <p:sp>
        <p:nvSpPr>
          <p:cNvPr id="11" name="Text 8"/>
          <p:cNvSpPr txBox="1"/>
          <p:nvPr/>
        </p:nvSpPr>
        <p:spPr>
          <a:xfrm>
            <a:off x="5623560" y="3703320"/>
            <a:ext cx="3063240" cy="777240"/>
          </a:xfrm>
          <a:prstGeom prst="rect">
            <a:avLst/>
          </a:prstGeom>
          <a:noFill/>
        </p:spPr>
        <p:txBody>
          <a:bodyPr wrap="square" lIns="0" tIns="0" rIns="0" bIns="0" rtlCol="0" anchor="t"/>
          <a:lstStyle/>
          <a:p>
            <a:pPr marL="0" indent="0">
              <a:buNone/>
            </a:pPr>
            <a:r>
              <a:rPr lang="en-US" sz="1150" dirty="0">
                <a:solidFill>
                  <a:srgbClr val="3A4654"/>
                </a:solidFill>
                <a:latin typeface="Calibri" panose="020F0502020204030204" pitchFamily="34" charset="0"/>
                <a:ea typeface="Calibri" panose="020F0502020204030204" pitchFamily="34" charset="-122"/>
                <a:cs typeface="Calibri" panose="020F0502020204030204" pitchFamily="34" charset="-120"/>
              </a:rPr>
              <a:t>Outdoor climate, not measured product temperature: many buildings are cooled. Degraded antibiotics can under-dose patients and drive resistance (Kaplan et al., 2025).</a:t>
            </a:r>
            <a:endParaRPr lang="en-US" sz="1150" dirty="0"/>
          </a:p>
        </p:txBody>
      </p:sp>
      <p:sp>
        <p:nvSpPr>
          <p:cNvPr id="25" name="Slide Number Placeholder 0"/>
          <p:cNvSpPr>
            <a:spLocks noGrp="1"/>
          </p:cNvSpPr>
          <p:nvPr>
            <p:ph type="sldNum" sz="quarter" idx="4294967295"/>
          </p:nvPr>
        </p:nvSpPr>
        <p:spPr>
          <a:xfrm>
            <a:off x="8321040" y="4754880"/>
            <a:ext cx="365760" cy="228600"/>
          </a:xfrm>
          <a:prstGeom prst="rect">
            <a:avLst/>
          </a:prstGeom>
        </p:spPr>
        <p:txBody>
          <a:bodyPr/>
          <a:lstStyle>
            <a:lvl1pPr>
              <a:defRPr sz="900">
                <a:solidFill>
                  <a:srgbClr val="5B6672"/>
                </a:solidFill>
              </a:defRPr>
            </a:lvl1pPr>
          </a:lstStyle>
          <a:p>
            <a:pPr algn="r"/>
            <a:fld id="{F7021451-1387-4CA6-816F-3879F97B5CBC}" type="slidenum">
              <a:rPr lang="en-US" b="0"/>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ph type="title" idx="100" hasCustomPrompt="1"/>
          </p:nvPr>
        </p:nvSpPr>
        <p:spPr>
          <a:xfrm>
            <a:off x="548640" y="365760"/>
            <a:ext cx="8046720" cy="731520"/>
          </a:xfrm>
          <a:prstGeom prst="rect">
            <a:avLst/>
          </a:prstGeom>
          <a:noFill/>
        </p:spPr>
        <p:txBody>
          <a:bodyPr wrap="square" lIns="0" tIns="0" rIns="0" bIns="0" rtlCol="0" anchor="t"/>
          <a:lstStyle/>
          <a:p>
            <a:pPr marL="0" indent="0" algn="l">
              <a:buNone/>
            </a:pPr>
            <a:r>
              <a:rPr lang="en-US" sz="3000" b="1" dirty="0">
                <a:solidFill>
                  <a:schemeClr val="bg1"/>
                </a:solidFill>
                <a:latin typeface="Cambria" panose="02040503050406030204" pitchFamily="34" charset="0"/>
                <a:ea typeface="Cambria" panose="02040503050406030204" pitchFamily="34" charset="-122"/>
                <a:cs typeface="Cambria" panose="02040503050406030204" pitchFamily="34" charset="-120"/>
              </a:rPr>
              <a:t>What changes if this is right</a:t>
            </a:r>
            <a:endParaRPr lang="en-US" sz="3000" dirty="0"/>
          </a:p>
        </p:txBody>
      </p:sp>
      <p:sp>
        <p:nvSpPr>
          <p:cNvPr id="3" name="change 1 marker"/>
          <p:cNvSpPr/>
          <p:nvPr/>
        </p:nvSpPr>
        <p:spPr>
          <a:xfrm>
            <a:off x="548640" y="1325880"/>
            <a:ext cx="502920" cy="502920"/>
          </a:xfrm>
          <a:prstGeom prst="ellipse">
            <a:avLst/>
          </a:prstGeom>
          <a:solidFill>
            <a:srgbClr val="D9480F"/>
          </a:solidFill>
          <a:ln w="12700">
            <a:solidFill>
              <a:srgbClr val="D9480F"/>
            </a:solidFill>
            <a:prstDash val="solid"/>
          </a:ln>
        </p:spPr>
      </p:sp>
      <p:sp>
        <p:nvSpPr>
          <p:cNvPr id="4" name="Text 2"/>
          <p:cNvSpPr txBox="1"/>
          <p:nvPr/>
        </p:nvSpPr>
        <p:spPr>
          <a:xfrm>
            <a:off x="548640" y="1325880"/>
            <a:ext cx="502920" cy="502920"/>
          </a:xfrm>
          <a:prstGeom prst="rect">
            <a:avLst/>
          </a:prstGeom>
          <a:noFill/>
        </p:spPr>
        <p:txBody>
          <a:bodyPr wrap="square" lIns="0" tIns="0" rIns="0" bIns="0" rtlCol="0" anchor="ctr"/>
          <a:lstStyle/>
          <a:p>
            <a:pPr marL="0" indent="0" algn="ctr">
              <a:buNone/>
            </a:pPr>
            <a:r>
              <a:rPr lang="en-US" sz="1800" b="1" dirty="0">
                <a:solidFill>
                  <a:srgbClr val="FFFFFF"/>
                </a:solidFill>
                <a:latin typeface="Calibri" panose="020F0502020204030204" pitchFamily="34" charset="0"/>
                <a:ea typeface="Calibri" panose="020F0502020204030204" pitchFamily="34" charset="-122"/>
                <a:cs typeface="Calibri" panose="020F0502020204030204" pitchFamily="34" charset="-120"/>
              </a:rPr>
              <a:t>1</a:t>
            </a:r>
            <a:endParaRPr lang="en-US" sz="1800" dirty="0"/>
          </a:p>
        </p:txBody>
      </p:sp>
      <p:sp>
        <p:nvSpPr>
          <p:cNvPr id="5" name="Text 3"/>
          <p:cNvSpPr txBox="1"/>
          <p:nvPr/>
        </p:nvSpPr>
        <p:spPr>
          <a:xfrm>
            <a:off x="548640" y="1965960"/>
            <a:ext cx="2468880" cy="411480"/>
          </a:xfrm>
          <a:prstGeom prst="rect">
            <a:avLst/>
          </a:prstGeom>
          <a:noFill/>
        </p:spPr>
        <p:txBody>
          <a:bodyPr wrap="square" lIns="0" tIns="0" rIns="0" bIns="0" rtlCol="0" anchor="ctr"/>
          <a:lstStyle/>
          <a:p>
            <a:pPr marL="0" indent="0">
              <a:buNone/>
            </a:pPr>
            <a:r>
              <a:rPr lang="en-US" sz="1600" b="1" dirty="0">
                <a:solidFill>
                  <a:srgbClr val="FFFFFF"/>
                </a:solidFill>
                <a:latin typeface="Calibri" panose="020F0502020204030204" pitchFamily="34" charset="0"/>
                <a:ea typeface="Calibri" panose="020F0502020204030204" pitchFamily="34" charset="-122"/>
                <a:cs typeface="Calibri" panose="020F0502020204030204" pitchFamily="34" charset="-120"/>
              </a:rPr>
              <a:t>Re-check every year</a:t>
            </a:r>
            <a:endParaRPr lang="en-US" sz="1600" dirty="0"/>
          </a:p>
        </p:txBody>
      </p:sp>
      <p:sp>
        <p:nvSpPr>
          <p:cNvPr id="6" name="Text 4"/>
          <p:cNvSpPr txBox="1"/>
          <p:nvPr/>
        </p:nvSpPr>
        <p:spPr>
          <a:xfrm>
            <a:off x="548640" y="2377440"/>
            <a:ext cx="2377440" cy="914400"/>
          </a:xfrm>
          <a:prstGeom prst="rect">
            <a:avLst/>
          </a:prstGeom>
          <a:noFill/>
        </p:spPr>
        <p:txBody>
          <a:bodyPr wrap="square" lIns="0" tIns="0" rIns="0" bIns="0" rtlCol="0" anchor="t"/>
          <a:lstStyle/>
          <a:p>
            <a:pPr marL="0" indent="0">
              <a:buNone/>
            </a:pPr>
            <a:r>
              <a:rPr lang="en-US" sz="1300" dirty="0">
                <a:solidFill>
                  <a:srgbClr val="D5DAE0"/>
                </a:solidFill>
                <a:latin typeface="Calibri" panose="020F0502020204030204" pitchFamily="34" charset="0"/>
                <a:ea typeface="Calibri" panose="020F0502020204030204" pitchFamily="34" charset="-122"/>
                <a:cs typeface="Calibri" panose="020F0502020204030204" pitchFamily="34" charset="-120"/>
              </a:rPr>
              <a:t>Regulators can re-derive test conditions as the climate moves, with an open tool</a:t>
            </a:r>
            <a:endParaRPr lang="en-US" sz="1300" dirty="0"/>
          </a:p>
        </p:txBody>
      </p:sp>
      <p:sp>
        <p:nvSpPr>
          <p:cNvPr id="7" name="change 2 marker"/>
          <p:cNvSpPr/>
          <p:nvPr/>
        </p:nvSpPr>
        <p:spPr>
          <a:xfrm>
            <a:off x="3291840" y="1325880"/>
            <a:ext cx="502920" cy="502920"/>
          </a:xfrm>
          <a:prstGeom prst="ellipse">
            <a:avLst/>
          </a:prstGeom>
          <a:solidFill>
            <a:srgbClr val="D9480F"/>
          </a:solidFill>
          <a:ln w="12700">
            <a:solidFill>
              <a:srgbClr val="D9480F"/>
            </a:solidFill>
            <a:prstDash val="solid"/>
          </a:ln>
        </p:spPr>
      </p:sp>
      <p:sp>
        <p:nvSpPr>
          <p:cNvPr id="8" name="Text 6"/>
          <p:cNvSpPr txBox="1"/>
          <p:nvPr/>
        </p:nvSpPr>
        <p:spPr>
          <a:xfrm>
            <a:off x="3291840" y="1325880"/>
            <a:ext cx="502920" cy="502920"/>
          </a:xfrm>
          <a:prstGeom prst="rect">
            <a:avLst/>
          </a:prstGeom>
          <a:noFill/>
        </p:spPr>
        <p:txBody>
          <a:bodyPr wrap="square" lIns="0" tIns="0" rIns="0" bIns="0" rtlCol="0" anchor="ctr"/>
          <a:lstStyle/>
          <a:p>
            <a:pPr marL="0" indent="0" algn="ctr">
              <a:buNone/>
            </a:pPr>
            <a:r>
              <a:rPr lang="en-US" sz="1800" b="1" dirty="0">
                <a:solidFill>
                  <a:srgbClr val="FFFFFF"/>
                </a:solidFill>
                <a:latin typeface="Calibri" panose="020F0502020204030204" pitchFamily="34" charset="0"/>
                <a:ea typeface="Calibri" panose="020F0502020204030204" pitchFamily="34" charset="-122"/>
                <a:cs typeface="Calibri" panose="020F0502020204030204" pitchFamily="34" charset="-120"/>
              </a:rPr>
              <a:t>2</a:t>
            </a:r>
            <a:endParaRPr lang="en-US" sz="1800" dirty="0"/>
          </a:p>
        </p:txBody>
      </p:sp>
      <p:sp>
        <p:nvSpPr>
          <p:cNvPr id="9" name="Text 7"/>
          <p:cNvSpPr txBox="1"/>
          <p:nvPr/>
        </p:nvSpPr>
        <p:spPr>
          <a:xfrm>
            <a:off x="3291840" y="1965960"/>
            <a:ext cx="2468880" cy="411480"/>
          </a:xfrm>
          <a:prstGeom prst="rect">
            <a:avLst/>
          </a:prstGeom>
          <a:noFill/>
        </p:spPr>
        <p:txBody>
          <a:bodyPr wrap="square" lIns="0" tIns="0" rIns="0" bIns="0" rtlCol="0" anchor="ctr"/>
          <a:lstStyle/>
          <a:p>
            <a:pPr marL="0" indent="0">
              <a:buNone/>
            </a:pPr>
            <a:r>
              <a:rPr lang="en-US" sz="1600" b="1" dirty="0">
                <a:solidFill>
                  <a:srgbClr val="FFFFFF"/>
                </a:solidFill>
                <a:latin typeface="Calibri" panose="020F0502020204030204" pitchFamily="34" charset="0"/>
                <a:ea typeface="Calibri" panose="020F0502020204030204" pitchFamily="34" charset="-122"/>
                <a:cs typeface="Calibri" panose="020F0502020204030204" pitchFamily="34" charset="-120"/>
              </a:rPr>
              <a:t>Target the hot spots</a:t>
            </a:r>
            <a:endParaRPr lang="en-US" sz="1600" dirty="0"/>
          </a:p>
        </p:txBody>
      </p:sp>
      <p:sp>
        <p:nvSpPr>
          <p:cNvPr id="10" name="Text 8"/>
          <p:cNvSpPr txBox="1"/>
          <p:nvPr/>
        </p:nvSpPr>
        <p:spPr>
          <a:xfrm>
            <a:off x="3291840" y="2377440"/>
            <a:ext cx="2377440" cy="914400"/>
          </a:xfrm>
          <a:prstGeom prst="rect">
            <a:avLst/>
          </a:prstGeom>
          <a:noFill/>
        </p:spPr>
        <p:txBody>
          <a:bodyPr wrap="square" lIns="0" tIns="0" rIns="0" bIns="0" rtlCol="0" anchor="t"/>
          <a:lstStyle/>
          <a:p>
            <a:pPr marL="0" indent="0">
              <a:buNone/>
            </a:pPr>
            <a:r>
              <a:rPr lang="en-US" sz="1300" dirty="0">
                <a:solidFill>
                  <a:srgbClr val="D5DAE0"/>
                </a:solidFill>
                <a:latin typeface="Calibri" panose="020F0502020204030204" pitchFamily="34" charset="0"/>
                <a:ea typeface="Calibri" panose="020F0502020204030204" pitchFamily="34" charset="-122"/>
                <a:cs typeface="Calibri" panose="020F0502020204030204" pitchFamily="34" charset="-120"/>
              </a:rPr>
              <a:t>Target post-market stability checks at places already over the line</a:t>
            </a:r>
            <a:endParaRPr lang="en-US" sz="1300" dirty="0"/>
          </a:p>
        </p:txBody>
      </p:sp>
      <p:sp>
        <p:nvSpPr>
          <p:cNvPr id="11" name="change 3 marker"/>
          <p:cNvSpPr/>
          <p:nvPr/>
        </p:nvSpPr>
        <p:spPr>
          <a:xfrm>
            <a:off x="6035040" y="1325880"/>
            <a:ext cx="502920" cy="502920"/>
          </a:xfrm>
          <a:prstGeom prst="ellipse">
            <a:avLst/>
          </a:prstGeom>
          <a:solidFill>
            <a:srgbClr val="D9480F"/>
          </a:solidFill>
          <a:ln w="12700">
            <a:solidFill>
              <a:srgbClr val="D9480F"/>
            </a:solidFill>
            <a:prstDash val="solid"/>
          </a:ln>
        </p:spPr>
      </p:sp>
      <p:sp>
        <p:nvSpPr>
          <p:cNvPr id="12" name="Text 10"/>
          <p:cNvSpPr txBox="1"/>
          <p:nvPr/>
        </p:nvSpPr>
        <p:spPr>
          <a:xfrm>
            <a:off x="6035040" y="1325880"/>
            <a:ext cx="502920" cy="502920"/>
          </a:xfrm>
          <a:prstGeom prst="rect">
            <a:avLst/>
          </a:prstGeom>
          <a:noFill/>
        </p:spPr>
        <p:txBody>
          <a:bodyPr wrap="square" lIns="0" tIns="0" rIns="0" bIns="0" rtlCol="0" anchor="ctr"/>
          <a:lstStyle/>
          <a:p>
            <a:pPr marL="0" indent="0" algn="ctr">
              <a:buNone/>
            </a:pPr>
            <a:r>
              <a:rPr lang="en-US" sz="1800" b="1" dirty="0">
                <a:solidFill>
                  <a:srgbClr val="FFFFFF"/>
                </a:solidFill>
                <a:latin typeface="Calibri" panose="020F0502020204030204" pitchFamily="34" charset="0"/>
                <a:ea typeface="Calibri" panose="020F0502020204030204" pitchFamily="34" charset="-122"/>
                <a:cs typeface="Calibri" panose="020F0502020204030204" pitchFamily="34" charset="-120"/>
              </a:rPr>
              <a:t>3</a:t>
            </a:r>
            <a:endParaRPr lang="en-US" sz="1800" dirty="0"/>
          </a:p>
        </p:txBody>
      </p:sp>
      <p:sp>
        <p:nvSpPr>
          <p:cNvPr id="13" name="Text 11"/>
          <p:cNvSpPr txBox="1"/>
          <p:nvPr/>
        </p:nvSpPr>
        <p:spPr>
          <a:xfrm>
            <a:off x="6035040" y="1965960"/>
            <a:ext cx="2468880" cy="411480"/>
          </a:xfrm>
          <a:prstGeom prst="rect">
            <a:avLst/>
          </a:prstGeom>
          <a:noFill/>
        </p:spPr>
        <p:txBody>
          <a:bodyPr wrap="square" lIns="0" tIns="0" rIns="0" bIns="0" rtlCol="0" anchor="ctr"/>
          <a:lstStyle/>
          <a:p>
            <a:pPr marL="0" indent="0">
              <a:buNone/>
            </a:pPr>
            <a:r>
              <a:rPr lang="en-US" sz="1600" b="1" dirty="0">
                <a:solidFill>
                  <a:srgbClr val="FFFFFF"/>
                </a:solidFill>
                <a:latin typeface="Calibri" panose="020F0502020204030204" pitchFamily="34" charset="0"/>
                <a:ea typeface="Calibri" panose="020F0502020204030204" pitchFamily="34" charset="-122"/>
                <a:cs typeface="Calibri" panose="020F0502020204030204" pitchFamily="34" charset="-120"/>
              </a:rPr>
              <a:t>Act on humidity</a:t>
            </a:r>
            <a:endParaRPr lang="en-US" sz="1600" dirty="0"/>
          </a:p>
        </p:txBody>
      </p:sp>
      <p:sp>
        <p:nvSpPr>
          <p:cNvPr id="14" name="Text 12"/>
          <p:cNvSpPr txBox="1"/>
          <p:nvPr/>
        </p:nvSpPr>
        <p:spPr>
          <a:xfrm>
            <a:off x="6035040" y="2377440"/>
            <a:ext cx="2377440" cy="914400"/>
          </a:xfrm>
          <a:prstGeom prst="rect">
            <a:avLst/>
          </a:prstGeom>
          <a:noFill/>
        </p:spPr>
        <p:txBody>
          <a:bodyPr wrap="square" lIns="0" tIns="0" rIns="0" bIns="0" rtlCol="0" anchor="t"/>
          <a:lstStyle/>
          <a:p>
            <a:pPr marL="0" indent="0">
              <a:buNone/>
            </a:pPr>
            <a:r>
              <a:rPr lang="en-US" sz="1300" dirty="0">
                <a:solidFill>
                  <a:srgbClr val="D5DAE0"/>
                </a:solidFill>
                <a:latin typeface="Calibri" panose="020F0502020204030204" pitchFamily="34" charset="0"/>
                <a:ea typeface="Calibri" panose="020F0502020204030204" pitchFamily="34" charset="-122"/>
                <a:cs typeface="Calibri" panose="020F0502020204030204" pitchFamily="34" charset="-120"/>
              </a:rPr>
              <a:t>Countries testing at 30 °C / 65% get evidence their coasts need more</a:t>
            </a:r>
            <a:endParaRPr lang="en-US" sz="1300" dirty="0"/>
          </a:p>
        </p:txBody>
      </p:sp>
      <p:sp>
        <p:nvSpPr>
          <p:cNvPr id="15" name="label pill"/>
          <p:cNvSpPr/>
          <p:nvPr/>
        </p:nvSpPr>
        <p:spPr>
          <a:xfrm>
            <a:off x="548640" y="3749040"/>
            <a:ext cx="2194560" cy="548640"/>
          </a:xfrm>
          <a:prstGeom prst="roundRect">
            <a:avLst>
              <a:gd name="adj" fmla="val 50000"/>
            </a:avLst>
          </a:prstGeom>
          <a:solidFill>
            <a:srgbClr val="FFFFFF"/>
          </a:solidFill>
          <a:ln w="31750">
            <a:solidFill>
              <a:srgbClr val="D9480F"/>
            </a:solidFill>
            <a:prstDash val="solid"/>
          </a:ln>
        </p:spPr>
      </p:sp>
      <p:sp>
        <p:nvSpPr>
          <p:cNvPr id="16" name="Text 14"/>
          <p:cNvSpPr txBox="1"/>
          <p:nvPr/>
        </p:nvSpPr>
        <p:spPr>
          <a:xfrm>
            <a:off x="548640" y="3749040"/>
            <a:ext cx="2194560" cy="548640"/>
          </a:xfrm>
          <a:prstGeom prst="rect">
            <a:avLst/>
          </a:prstGeom>
          <a:noFill/>
        </p:spPr>
        <p:txBody>
          <a:bodyPr wrap="square" lIns="0" tIns="0" rIns="0" bIns="0" rtlCol="0" anchor="ctr"/>
          <a:lstStyle/>
          <a:p>
            <a:pPr marL="0" indent="0" algn="ctr">
              <a:buNone/>
            </a:pPr>
            <a:r>
              <a:rPr lang="en-US" sz="1600" b="1" dirty="0">
                <a:solidFill>
                  <a:srgbClr val="1D2633"/>
                </a:solidFill>
                <a:latin typeface="Cambria" panose="02040503050406030204" pitchFamily="34" charset="0"/>
                <a:ea typeface="Cambria" panose="02040503050406030204" pitchFamily="34" charset="-122"/>
                <a:cs typeface="Cambria" panose="02040503050406030204" pitchFamily="34" charset="-120"/>
              </a:rPr>
              <a:t>Store below 30 °C</a:t>
            </a:r>
            <a:endParaRPr lang="en-US" sz="1600" dirty="0"/>
          </a:p>
        </p:txBody>
      </p:sp>
      <p:sp>
        <p:nvSpPr>
          <p:cNvPr id="17" name="Text 15"/>
          <p:cNvSpPr txBox="1"/>
          <p:nvPr/>
        </p:nvSpPr>
        <p:spPr>
          <a:xfrm>
            <a:off x="2971800" y="3749040"/>
            <a:ext cx="5669280" cy="548640"/>
          </a:xfrm>
          <a:prstGeom prst="rect">
            <a:avLst/>
          </a:prstGeom>
          <a:noFill/>
        </p:spPr>
        <p:txBody>
          <a:bodyPr wrap="square" lIns="0" tIns="0" rIns="0" bIns="0" rtlCol="0" anchor="ctr"/>
          <a:lstStyle/>
          <a:p>
            <a:pPr marL="0" indent="0">
              <a:buNone/>
            </a:pPr>
            <a:r>
              <a:rPr lang="en-US" sz="2000" i="1" dirty="0">
                <a:solidFill>
                  <a:srgbClr val="FFFFFF"/>
                </a:solidFill>
                <a:latin typeface="Cambria" panose="02040503050406030204" pitchFamily="34" charset="0"/>
                <a:ea typeface="Cambria" panose="02040503050406030204" pitchFamily="34" charset="-122"/>
                <a:cs typeface="Cambria" panose="02040503050406030204" pitchFamily="34" charset="-120"/>
              </a:rPr>
              <a:t>A standard is a forecast. Forecasts need checking.</a:t>
            </a:r>
            <a:endParaRPr lang="en-US" sz="2000" dirty="0"/>
          </a:p>
        </p:txBody>
      </p:sp>
    </p:spTree>
  </p:cSld>
  <p:clrMapOvr>
    <a:masterClrMapping/>
  </p:clrMapOvr>
</p:sld>
</file>

<file path=ppt/theme/theme1.xml><?xml version="1.0" encoding="utf-8"?>
<a:theme xmlns:a="http://schemas.openxmlformats.org/drawingml/2006/main" name="Expired by Climate">
  <a:themeElements>
    <a:clrScheme name="Expired by Climate">
      <a:dk1>
        <a:srgbClr val="1D2633"/>
      </a:dk1>
      <a:lt1>
        <a:srgbClr val="FFFFFF"/>
      </a:lt1>
      <a:dk2>
        <a:srgbClr val="3A4654"/>
      </a:dk2>
      <a:lt2>
        <a:srgbClr val="F2F4F6"/>
      </a:lt2>
      <a:accent1>
        <a:srgbClr val="D9480F"/>
      </a:accent1>
      <a:accent2>
        <a:srgbClr val="3B6E8F"/>
      </a:accent2>
      <a:accent3>
        <a:srgbClr val="9AA5B1"/>
      </a:accent3>
      <a:accent4>
        <a:srgbClr val="FBE7DE"/>
      </a:accent4>
      <a:accent5>
        <a:srgbClr val="5B6672"/>
      </a:accent5>
      <a:accent6>
        <a:srgbClr val="E6E9EC"/>
      </a:accent6>
      <a:hlink>
        <a:srgbClr val="3B6E8F"/>
      </a:hlink>
      <a:folHlink>
        <a:srgbClr val="5B6672"/>
      </a:folHlink>
    </a:clrScheme>
    <a:fontScheme name="Expired by Climat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Expired by Climate">
  <a:themeElements>
    <a:clrScheme name="Expired by Climate">
      <a:dk1>
        <a:srgbClr val="1D2633"/>
      </a:dk1>
      <a:lt1>
        <a:srgbClr val="FFFFFF"/>
      </a:lt1>
      <a:dk2>
        <a:srgbClr val="3A4654"/>
      </a:dk2>
      <a:lt2>
        <a:srgbClr val="F2F4F6"/>
      </a:lt2>
      <a:accent1>
        <a:srgbClr val="D9480F"/>
      </a:accent1>
      <a:accent2>
        <a:srgbClr val="3B6E8F"/>
      </a:accent2>
      <a:accent3>
        <a:srgbClr val="9AA5B1"/>
      </a:accent3>
      <a:accent4>
        <a:srgbClr val="FBE7DE"/>
      </a:accent4>
      <a:accent5>
        <a:srgbClr val="5B6672"/>
      </a:accent5>
      <a:accent6>
        <a:srgbClr val="E6E9EC"/>
      </a:accent6>
      <a:hlink>
        <a:srgbClr val="3B6E8F"/>
      </a:hlink>
      <a:folHlink>
        <a:srgbClr val="5B6672"/>
      </a:folHlink>
    </a:clrScheme>
    <a:fontScheme name="Expired by Climat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3561</Words>
  <Application>WPS Presentation</Application>
  <PresentationFormat>On-screen Show (16:9)</PresentationFormat>
  <Paragraphs>195</Paragraphs>
  <Slides>10</Slides>
  <Notes>10</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10</vt:i4>
      </vt:variant>
    </vt:vector>
  </HeadingPairs>
  <TitlesOfParts>
    <vt:vector size="22" baseType="lpstr">
      <vt:lpstr>Arial</vt:lpstr>
      <vt:lpstr>SimSun</vt:lpstr>
      <vt:lpstr>Wingdings</vt:lpstr>
      <vt:lpstr>Cambria</vt:lpstr>
      <vt:lpstr>Cambria</vt:lpstr>
      <vt:lpstr>Cambria</vt:lpstr>
      <vt:lpstr>Calibri</vt:lpstr>
      <vt:lpstr>Calibri</vt:lpstr>
      <vt:lpstr>Calibri</vt:lpstr>
      <vt:lpstr>Microsoft YaHei</vt:lpstr>
      <vt:lpstr>Arial Unicode MS</vt:lpstr>
      <vt:lpstr>Expired by Climate</vt:lpstr>
      <vt:lpstr>Expired by Climate</vt:lpstr>
      <vt:lpstr>“Store below 30 °C” is a climate forecast</vt:lpstr>
      <vt:lpstr>The numbers were set from yesterday’s climate</vt:lpstr>
      <vt:lpstr>Our idea: test the standard against today’s climate</vt:lpstr>
      <vt:lpstr>How it works</vt:lpstr>
      <vt:lpstr>Every place warmed; 7 now run above the line</vt:lpstr>
      <vt:lpstr>Inside the US, two cities crossed the 25 °C line</vt:lpstr>
      <vt:lpstr>Humid coasts already exceed the 65% chamber</vt:lpstr>
      <vt:lpstr>Why it matters: shelf life quietly shrinks</vt:lpstr>
      <vt:lpstr>What changes if this is right</vt:lpstr>
    </vt:vector>
  </TitlesOfParts>
  <Company>PptxGenJS</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Expired by Climate</dc:title>
  <dc:creator/>
  <dc:subject>EurekaDev 2026 Research Track</dc:subject>
  <cp:lastModifiedBy>Uttam Chandel</cp:lastModifiedBy>
  <cp:revision>2</cp:revision>
  <dcterms:created xsi:type="dcterms:W3CDTF">2026-10-08T17:37:00Z</dcterms:created>
  <dcterms:modified xsi:type="dcterms:W3CDTF">2026-10-09T13:01:34Z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85A70749F4AC4C00991307A0CE85BB01_12</vt:lpwstr>
  </property>
  <property fmtid="{D5CDD505-2E9C-101B-9397-08002B2CF9AE}" pid="3" name="KSOProductBuildVer">
    <vt:lpwstr>1033-12.1.0.28485</vt:lpwstr>
  </property>
</Properties>
</file>